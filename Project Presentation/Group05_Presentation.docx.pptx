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1"/>
  </p:notesMasterIdLst>
  <p:sldIdLst>
    <p:sldId id="272" r:id="rId2"/>
    <p:sldId id="273" r:id="rId3"/>
    <p:sldId id="274" r:id="rId4"/>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4630400" cy="8229600"/>
  <p:notesSz cx="8229600" cy="14630400"/>
  <p:embeddedFontLst>
    <p:embeddedFont>
      <p:font typeface="Consolas" panose="020B0609020204030204" pitchFamily="49" charset="0"/>
      <p:regular r:id="rId22"/>
      <p:bold r:id="rId23"/>
      <p:italic r:id="rId24"/>
      <p:boldItalic r:id="rId25"/>
    </p:embeddedFont>
    <p:embeddedFont>
      <p:font typeface="Instrument Sans Medium" panose="020B0604020202020204" charset="0"/>
      <p:regular r:id="rId26"/>
    </p:embeddedFont>
    <p:embeddedFont>
      <p:font typeface="Instrument Sans Semi Bold" panose="020B0604020202020204" charset="0"/>
      <p:regular r:id="rId27"/>
    </p:embeddedFont>
    <p:embeddedFont>
      <p:font typeface="Open Sans" panose="020B0606030504020204" pitchFamily="34" charset="0"/>
      <p:regular r:id="rId28"/>
      <p:bold r:id="rId29"/>
      <p:italic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2288" autoAdjust="0"/>
    <p:restoredTop sz="94610"/>
  </p:normalViewPr>
  <p:slideViewPr>
    <p:cSldViewPr snapToGrid="0" snapToObjects="1">
      <p:cViewPr>
        <p:scale>
          <a:sx n="75" d="100"/>
          <a:sy n="75" d="100"/>
        </p:scale>
        <p:origin x="384" y="6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473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710328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3311230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809004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yat-alquran30.blogspot.com/"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image" Target="../media/image10.png"/><Relationship Id="rId5" Type="http://schemas.openxmlformats.org/officeDocument/2006/relationships/image" Target="../media/image30.sv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8F1ACC6-E040-43C7-BD9B-56FB35153957}"/>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0" y="0"/>
            <a:ext cx="14630400" cy="8229600"/>
          </a:xfrm>
          <a:prstGeom prst="rect">
            <a:avLst/>
          </a:prstGeom>
        </p:spPr>
      </p:pic>
    </p:spTree>
    <p:extLst>
      <p:ext uri="{BB962C8B-B14F-4D97-AF65-F5344CB8AC3E}">
        <p14:creationId xmlns:p14="http://schemas.microsoft.com/office/powerpoint/2010/main" val="2780556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70334" y="1886487"/>
            <a:ext cx="12634381" cy="2562582"/>
          </a:xfrm>
          <a:prstGeom prst="rect">
            <a:avLst/>
          </a:prstGeom>
          <a:noFill/>
          <a:ln/>
        </p:spPr>
        <p:txBody>
          <a:bodyPr wrap="square" lIns="0" tIns="0" rIns="0" bIns="0" rtlCol="0" anchor="t"/>
          <a:lstStyle/>
          <a:p>
            <a:pPr marL="0" indent="0" algn="ctr">
              <a:lnSpc>
                <a:spcPts val="10800"/>
              </a:lnSpc>
              <a:buNone/>
            </a:pPr>
            <a:r>
              <a:rPr lang="en-US" sz="8800" dirty="0" err="1">
                <a:solidFill>
                  <a:srgbClr val="091C53"/>
                </a:solidFill>
                <a:latin typeface="Instrument Sans Semi Bold" pitchFamily="34" charset="0"/>
                <a:ea typeface="Instrument Sans Semi Bold" pitchFamily="34" charset="-122"/>
                <a:cs typeface="Instrument Sans Semi Bold" pitchFamily="34" charset="-120"/>
              </a:rPr>
              <a:t>Artifical</a:t>
            </a:r>
            <a:r>
              <a:rPr lang="en-US" sz="8800" dirty="0">
                <a:solidFill>
                  <a:srgbClr val="091C53"/>
                </a:solidFill>
                <a:latin typeface="Instrument Sans Semi Bold" pitchFamily="34" charset="0"/>
                <a:ea typeface="Instrument Sans Semi Bold" pitchFamily="34" charset="-122"/>
                <a:cs typeface="Instrument Sans Semi Bold" pitchFamily="34" charset="-120"/>
              </a:rPr>
              <a:t> Intelligence</a:t>
            </a:r>
            <a:endParaRPr lang="en-US" sz="8800" dirty="0"/>
          </a:p>
        </p:txBody>
      </p:sp>
      <p:sp>
        <p:nvSpPr>
          <p:cNvPr id="4" name="Text 1"/>
          <p:cNvSpPr/>
          <p:nvPr/>
        </p:nvSpPr>
        <p:spPr>
          <a:xfrm>
            <a:off x="2414917" y="4114800"/>
            <a:ext cx="9800565" cy="866775"/>
          </a:xfrm>
          <a:prstGeom prst="rect">
            <a:avLst/>
          </a:prstGeom>
          <a:noFill/>
          <a:ln/>
        </p:spPr>
        <p:txBody>
          <a:bodyPr wrap="square" lIns="0" tIns="0" rIns="0" bIns="0" rtlCol="0" anchor="t"/>
          <a:lstStyle/>
          <a:p>
            <a:pPr marL="0" indent="0" algn="ctr">
              <a:lnSpc>
                <a:spcPts val="5400"/>
              </a:lnSpc>
              <a:buNone/>
            </a:pPr>
            <a:r>
              <a:rPr lang="en-US" sz="6000" b="1" dirty="0">
                <a:solidFill>
                  <a:srgbClr val="091C53"/>
                </a:solidFill>
                <a:latin typeface="Instrument Sans Semi Bold" pitchFamily="34" charset="0"/>
                <a:ea typeface="Instrument Sans Semi Bold" pitchFamily="34" charset="-122"/>
                <a:cs typeface="Instrument Sans Semi Bold" pitchFamily="34" charset="-120"/>
              </a:rPr>
              <a:t>Job Interview Analyzer</a:t>
            </a:r>
            <a:endParaRPr lang="en-US" sz="6000" b="1" dirty="0"/>
          </a:p>
        </p:txBody>
      </p:sp>
      <p:sp>
        <p:nvSpPr>
          <p:cNvPr id="5" name="Text 2"/>
          <p:cNvSpPr/>
          <p:nvPr/>
        </p:nvSpPr>
        <p:spPr>
          <a:xfrm>
            <a:off x="2864187" y="5127489"/>
            <a:ext cx="8902024" cy="1166306"/>
          </a:xfrm>
          <a:prstGeom prst="rect">
            <a:avLst/>
          </a:prstGeom>
          <a:noFill/>
          <a:ln/>
        </p:spPr>
        <p:txBody>
          <a:bodyPr wrap="square" lIns="0" tIns="0" rIns="0" bIns="0" rtlCol="0" anchor="t"/>
          <a:lstStyle/>
          <a:p>
            <a:pPr marL="0" indent="0" algn="ctr">
              <a:lnSpc>
                <a:spcPts val="4300"/>
              </a:lnSpc>
              <a:buNone/>
            </a:pPr>
            <a:r>
              <a:rPr lang="en-US" sz="4000" dirty="0">
                <a:solidFill>
                  <a:srgbClr val="091C53"/>
                </a:solidFill>
                <a:latin typeface="Instrument Sans Semi Bold" pitchFamily="34" charset="0"/>
                <a:ea typeface="Instrument Sans Semi Bold" pitchFamily="34" charset="-122"/>
                <a:cs typeface="Instrument Sans Semi Bold" pitchFamily="34" charset="-120"/>
              </a:rPr>
              <a:t>(AI Based)</a:t>
            </a:r>
            <a:endParaRPr lang="en-US" sz="4000" dirty="0"/>
          </a:p>
        </p:txBody>
      </p:sp>
      <p:pic>
        <p:nvPicPr>
          <p:cNvPr id="7" name="Picture 6">
            <a:extLst>
              <a:ext uri="{FF2B5EF4-FFF2-40B4-BE49-F238E27FC236}">
                <a16:creationId xmlns:a16="http://schemas.microsoft.com/office/drawing/2014/main" id="{A68F2B89-9E83-23BB-FBB6-89A5F1E37A8B}"/>
              </a:ext>
            </a:extLst>
          </p:cNvPr>
          <p:cNvPicPr>
            <a:picLocks noChangeAspect="1"/>
          </p:cNvPicPr>
          <p:nvPr/>
        </p:nvPicPr>
        <p:blipFill>
          <a:blip r:embed="rId3"/>
          <a:stretch>
            <a:fillRect/>
          </a:stretch>
        </p:blipFill>
        <p:spPr>
          <a:xfrm>
            <a:off x="11830050" y="7303808"/>
            <a:ext cx="2800350" cy="8667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1001554"/>
            <a:ext cx="7556421" cy="1346835"/>
          </a:xfrm>
          <a:prstGeom prst="rect">
            <a:avLst/>
          </a:prstGeom>
          <a:noFill/>
          <a:ln/>
        </p:spPr>
        <p:txBody>
          <a:bodyPr wrap="square" lIns="0" tIns="0" rIns="0" bIns="0" rtlCol="0" anchor="t"/>
          <a:lstStyle/>
          <a:p>
            <a:pPr marL="0" indent="0" algn="l">
              <a:lnSpc>
                <a:spcPts val="5300"/>
              </a:lnSpc>
              <a:buNone/>
            </a:pPr>
            <a:r>
              <a:rPr lang="en-US" sz="4200" dirty="0">
                <a:solidFill>
                  <a:srgbClr val="091C53"/>
                </a:solidFill>
                <a:latin typeface="Instrument Sans Semi Bold" pitchFamily="34" charset="0"/>
                <a:ea typeface="Instrument Sans Semi Bold" pitchFamily="34" charset="-122"/>
                <a:cs typeface="Instrument Sans Semi Bold" pitchFamily="34" charset="-120"/>
              </a:rPr>
              <a:t>Presented By:</a:t>
            </a:r>
            <a:endParaRPr lang="en-US" sz="4200" dirty="0"/>
          </a:p>
        </p:txBody>
      </p:sp>
      <p:sp>
        <p:nvSpPr>
          <p:cNvPr id="4" name="Shape 1"/>
          <p:cNvSpPr/>
          <p:nvPr/>
        </p:nvSpPr>
        <p:spPr>
          <a:xfrm>
            <a:off x="793790" y="2671524"/>
            <a:ext cx="7556421" cy="2170509"/>
          </a:xfrm>
          <a:prstGeom prst="roundRect">
            <a:avLst>
              <a:gd name="adj" fmla="val 8935"/>
            </a:avLst>
          </a:prstGeom>
          <a:solidFill>
            <a:srgbClr val="CEE6FD"/>
          </a:solidFill>
          <a:ln/>
        </p:spPr>
      </p:sp>
      <p:sp>
        <p:nvSpPr>
          <p:cNvPr id="5" name="Shape 2"/>
          <p:cNvSpPr/>
          <p:nvPr/>
        </p:nvSpPr>
        <p:spPr>
          <a:xfrm>
            <a:off x="1009174" y="2886908"/>
            <a:ext cx="646390" cy="646390"/>
          </a:xfrm>
          <a:prstGeom prst="roundRect">
            <a:avLst>
              <a:gd name="adj" fmla="val 14144844"/>
            </a:avLst>
          </a:prstGeom>
          <a:solidFill>
            <a:srgbClr val="84C1FA"/>
          </a:solidFill>
          <a:ln/>
        </p:spPr>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86934" y="3064550"/>
            <a:ext cx="290870" cy="290870"/>
          </a:xfrm>
          <a:prstGeom prst="rect">
            <a:avLst/>
          </a:prstGeom>
        </p:spPr>
      </p:pic>
      <p:sp>
        <p:nvSpPr>
          <p:cNvPr id="7" name="Text 3"/>
          <p:cNvSpPr/>
          <p:nvPr/>
        </p:nvSpPr>
        <p:spPr>
          <a:xfrm>
            <a:off x="1009174" y="3748683"/>
            <a:ext cx="3232190" cy="403979"/>
          </a:xfrm>
          <a:prstGeom prst="rect">
            <a:avLst/>
          </a:prstGeom>
          <a:noFill/>
          <a:ln/>
        </p:spPr>
        <p:txBody>
          <a:bodyPr wrap="none" lIns="0" tIns="0" rIns="0" bIns="0" rtlCol="0" anchor="t"/>
          <a:lstStyle/>
          <a:p>
            <a:pPr marL="0" indent="0" algn="l">
              <a:lnSpc>
                <a:spcPts val="3150"/>
              </a:lnSpc>
              <a:buNone/>
            </a:pPr>
            <a:r>
              <a:rPr lang="en-US" sz="3600" dirty="0">
                <a:solidFill>
                  <a:srgbClr val="1E3063"/>
                </a:solidFill>
                <a:latin typeface="Instrument Sans Semi Bold" pitchFamily="34" charset="0"/>
                <a:ea typeface="Instrument Sans Semi Bold" pitchFamily="34" charset="-122"/>
                <a:cs typeface="Instrument Sans Semi Bold" pitchFamily="34" charset="-120"/>
              </a:rPr>
              <a:t>Muhammad Ali</a:t>
            </a:r>
            <a:endParaRPr lang="en-US" sz="3600" dirty="0"/>
          </a:p>
        </p:txBody>
      </p:sp>
      <p:sp>
        <p:nvSpPr>
          <p:cNvPr id="8" name="Text 4"/>
          <p:cNvSpPr/>
          <p:nvPr/>
        </p:nvSpPr>
        <p:spPr>
          <a:xfrm>
            <a:off x="1009174" y="4281845"/>
            <a:ext cx="7125653" cy="344805"/>
          </a:xfrm>
          <a:prstGeom prst="rect">
            <a:avLst/>
          </a:prstGeom>
          <a:noFill/>
          <a:ln/>
        </p:spPr>
        <p:txBody>
          <a:bodyPr wrap="none" lIns="0" tIns="0" rIns="0" bIns="0" rtlCol="0" anchor="t"/>
          <a:lstStyle/>
          <a:p>
            <a:pPr marL="0" indent="0" algn="l">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Student ID: </a:t>
            </a:r>
            <a:r>
              <a:rPr lang="en-US" sz="2800" b="1" dirty="0">
                <a:solidFill>
                  <a:srgbClr val="1E3063"/>
                </a:solidFill>
                <a:latin typeface="Instrument Sans Medium" pitchFamily="34" charset="0"/>
                <a:ea typeface="Instrument Sans Medium" pitchFamily="34" charset="-122"/>
                <a:cs typeface="Instrument Sans Medium" pitchFamily="34" charset="-120"/>
              </a:rPr>
              <a:t>233510</a:t>
            </a:r>
            <a:endParaRPr lang="en-US" sz="1650" b="1" dirty="0"/>
          </a:p>
        </p:txBody>
      </p:sp>
      <p:sp>
        <p:nvSpPr>
          <p:cNvPr id="9" name="Shape 5"/>
          <p:cNvSpPr/>
          <p:nvPr/>
        </p:nvSpPr>
        <p:spPr>
          <a:xfrm>
            <a:off x="793790" y="5057418"/>
            <a:ext cx="7556421" cy="2170509"/>
          </a:xfrm>
          <a:prstGeom prst="roundRect">
            <a:avLst>
              <a:gd name="adj" fmla="val 8935"/>
            </a:avLst>
          </a:prstGeom>
          <a:solidFill>
            <a:srgbClr val="CEE6FD"/>
          </a:solidFill>
          <a:ln/>
        </p:spPr>
      </p:sp>
      <p:sp>
        <p:nvSpPr>
          <p:cNvPr id="10" name="Shape 6"/>
          <p:cNvSpPr/>
          <p:nvPr/>
        </p:nvSpPr>
        <p:spPr>
          <a:xfrm>
            <a:off x="1009174" y="5272802"/>
            <a:ext cx="646390" cy="646390"/>
          </a:xfrm>
          <a:prstGeom prst="roundRect">
            <a:avLst>
              <a:gd name="adj" fmla="val 14144844"/>
            </a:avLst>
          </a:prstGeom>
          <a:solidFill>
            <a:srgbClr val="84C1FA"/>
          </a:solidFill>
          <a:ln/>
        </p:spPr>
      </p:sp>
      <p:pic>
        <p:nvPicPr>
          <p:cNvPr id="11"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86934" y="5450443"/>
            <a:ext cx="290870" cy="290870"/>
          </a:xfrm>
          <a:prstGeom prst="rect">
            <a:avLst/>
          </a:prstGeom>
        </p:spPr>
      </p:pic>
      <p:sp>
        <p:nvSpPr>
          <p:cNvPr id="12" name="Text 7"/>
          <p:cNvSpPr/>
          <p:nvPr/>
        </p:nvSpPr>
        <p:spPr>
          <a:xfrm>
            <a:off x="1009174" y="6134576"/>
            <a:ext cx="3232190" cy="403979"/>
          </a:xfrm>
          <a:prstGeom prst="rect">
            <a:avLst/>
          </a:prstGeom>
          <a:noFill/>
          <a:ln/>
        </p:spPr>
        <p:txBody>
          <a:bodyPr wrap="none" lIns="0" tIns="0" rIns="0" bIns="0" rtlCol="0" anchor="t"/>
          <a:lstStyle/>
          <a:p>
            <a:pPr marL="0" indent="0" algn="l">
              <a:lnSpc>
                <a:spcPts val="3150"/>
              </a:lnSpc>
              <a:buNone/>
            </a:pPr>
            <a:r>
              <a:rPr lang="en-US" sz="3600" dirty="0">
                <a:solidFill>
                  <a:srgbClr val="1E3063"/>
                </a:solidFill>
                <a:latin typeface="Instrument Sans Semi Bold" pitchFamily="34" charset="0"/>
                <a:ea typeface="Instrument Sans Semi Bold" pitchFamily="34" charset="-122"/>
                <a:cs typeface="Instrument Sans Semi Bold" pitchFamily="34" charset="-120"/>
              </a:rPr>
              <a:t>Muhammad Hassan</a:t>
            </a:r>
            <a:endParaRPr lang="en-US" sz="3600" dirty="0"/>
          </a:p>
        </p:txBody>
      </p:sp>
      <p:sp>
        <p:nvSpPr>
          <p:cNvPr id="13" name="Text 8"/>
          <p:cNvSpPr/>
          <p:nvPr/>
        </p:nvSpPr>
        <p:spPr>
          <a:xfrm>
            <a:off x="1009174" y="6667738"/>
            <a:ext cx="7125653" cy="344805"/>
          </a:xfrm>
          <a:prstGeom prst="rect">
            <a:avLst/>
          </a:prstGeom>
          <a:noFill/>
          <a:ln/>
        </p:spPr>
        <p:txBody>
          <a:bodyPr wrap="none" lIns="0" tIns="0" rIns="0" bIns="0" rtlCol="0" anchor="t"/>
          <a:lstStyle/>
          <a:p>
            <a:pPr marL="0" indent="0" algn="l">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Student ID: </a:t>
            </a:r>
            <a:r>
              <a:rPr lang="en-US" sz="2800" b="1" dirty="0">
                <a:solidFill>
                  <a:srgbClr val="1E3063"/>
                </a:solidFill>
                <a:latin typeface="Instrument Sans Medium" pitchFamily="34" charset="0"/>
                <a:ea typeface="Instrument Sans Medium" pitchFamily="34" charset="-122"/>
                <a:cs typeface="Instrument Sans Medium" pitchFamily="34" charset="-120"/>
              </a:rPr>
              <a:t>233516</a:t>
            </a:r>
            <a:endParaRPr lang="en-US" sz="165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1475303"/>
            <a:ext cx="7556421" cy="1417558"/>
          </a:xfrm>
          <a:prstGeom prst="rect">
            <a:avLst/>
          </a:prstGeom>
          <a:noFill/>
          <a:ln/>
        </p:spPr>
        <p:txBody>
          <a:bodyPr wrap="square" lIns="0" tIns="0" rIns="0" bIns="0" rtlCol="0" anchor="t"/>
          <a:lstStyle/>
          <a:p>
            <a:pPr marL="0" indent="0" algn="ctr">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AI-Based Job Interview Analyzer</a:t>
            </a:r>
            <a:endParaRPr lang="en-US" sz="4450" dirty="0"/>
          </a:p>
        </p:txBody>
      </p:sp>
      <p:sp>
        <p:nvSpPr>
          <p:cNvPr id="4" name="Text 1"/>
          <p:cNvSpPr/>
          <p:nvPr/>
        </p:nvSpPr>
        <p:spPr>
          <a:xfrm>
            <a:off x="6280190" y="3233023"/>
            <a:ext cx="7556421" cy="1451610"/>
          </a:xfrm>
          <a:prstGeom prst="rect">
            <a:avLst/>
          </a:prstGeom>
          <a:noFill/>
          <a:ln/>
        </p:spPr>
        <p:txBody>
          <a:bodyPr wrap="square" lIns="0" tIns="0" rIns="0" bIns="0" rtlCol="0" anchor="t"/>
          <a:lstStyle/>
          <a:p>
            <a:pPr marL="0" indent="0" algn="just">
              <a:lnSpc>
                <a:spcPts val="285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The AI Interview Analyzer is a real-time, AI-powered system that evaluates interview performance using multimodal emotion recognition. It combines Facial Emotion Detection and Speech Emotion Recognition to provide objective feedback.</a:t>
            </a:r>
            <a:endParaRPr lang="en-US" sz="2000" dirty="0"/>
          </a:p>
        </p:txBody>
      </p:sp>
      <p:sp>
        <p:nvSpPr>
          <p:cNvPr id="5" name="Text 2"/>
          <p:cNvSpPr/>
          <p:nvPr/>
        </p:nvSpPr>
        <p:spPr>
          <a:xfrm>
            <a:off x="6280190" y="4939784"/>
            <a:ext cx="7556421" cy="1814513"/>
          </a:xfrm>
          <a:prstGeom prst="rect">
            <a:avLst/>
          </a:prstGeom>
          <a:noFill/>
          <a:ln/>
        </p:spPr>
        <p:txBody>
          <a:bodyPr wrap="square" lIns="0" tIns="0" rIns="0" bIns="0" rtlCol="0" anchor="t"/>
          <a:lstStyle/>
          <a:p>
            <a:pPr marL="0" indent="0" algn="just">
              <a:lnSpc>
                <a:spcPts val="285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This system addresses the lack of objective feedback and professional coaching in the competitive job market by leveraging deep learning and computer vision. It captures video and audio, processes them with neural networks, and generates detailed reports with actionable recommendations.</a:t>
            </a:r>
            <a:endParaRPr lang="en-US" sz="2000" dirty="0"/>
          </a:p>
        </p:txBody>
      </p:sp>
      <p:pic>
        <p:nvPicPr>
          <p:cNvPr id="7" name="Picture 6">
            <a:extLst>
              <a:ext uri="{FF2B5EF4-FFF2-40B4-BE49-F238E27FC236}">
                <a16:creationId xmlns:a16="http://schemas.microsoft.com/office/drawing/2014/main" id="{204DC7AE-097D-5F58-1968-FA86A8A86405}"/>
              </a:ext>
            </a:extLst>
          </p:cNvPr>
          <p:cNvPicPr>
            <a:picLocks noChangeAspect="1"/>
          </p:cNvPicPr>
          <p:nvPr/>
        </p:nvPicPr>
        <p:blipFill>
          <a:blip r:embed="rId4"/>
          <a:stretch>
            <a:fillRect/>
          </a:stretch>
        </p:blipFill>
        <p:spPr>
          <a:xfrm>
            <a:off x="11687175" y="7610475"/>
            <a:ext cx="2943225" cy="6191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15685" y="897731"/>
            <a:ext cx="13199031" cy="1278017"/>
          </a:xfrm>
          <a:prstGeom prst="rect">
            <a:avLst/>
          </a:prstGeom>
          <a:noFill/>
          <a:ln/>
        </p:spPr>
        <p:txBody>
          <a:bodyPr wrap="square" lIns="0" tIns="0" rIns="0" bIns="0" rtlCol="0" anchor="t"/>
          <a:lstStyle/>
          <a:p>
            <a:pPr marL="0" indent="0" algn="l">
              <a:lnSpc>
                <a:spcPts val="5000"/>
              </a:lnSpc>
              <a:buNone/>
            </a:pPr>
            <a:r>
              <a:rPr lang="en-US" sz="4000" dirty="0">
                <a:solidFill>
                  <a:srgbClr val="091C53"/>
                </a:solidFill>
                <a:latin typeface="Instrument Sans Semi Bold" pitchFamily="34" charset="0"/>
                <a:ea typeface="Instrument Sans Semi Bold" pitchFamily="34" charset="-122"/>
                <a:cs typeface="Instrument Sans Semi Bold" pitchFamily="34" charset="-120"/>
              </a:rPr>
              <a:t>Problem Statement: Subjectivity in Interview Evaluation</a:t>
            </a:r>
            <a:endParaRPr lang="en-US" sz="4000" dirty="0"/>
          </a:p>
        </p:txBody>
      </p:sp>
      <p:sp>
        <p:nvSpPr>
          <p:cNvPr id="3" name="Text 1"/>
          <p:cNvSpPr/>
          <p:nvPr/>
        </p:nvSpPr>
        <p:spPr>
          <a:xfrm>
            <a:off x="715685" y="2584609"/>
            <a:ext cx="13199031" cy="654129"/>
          </a:xfrm>
          <a:prstGeom prst="rect">
            <a:avLst/>
          </a:prstGeom>
          <a:noFill/>
          <a:ln/>
        </p:spPr>
        <p:txBody>
          <a:bodyPr wrap="square" lIns="0" tIns="0" rIns="0" bIns="0" rtlCol="0" anchor="t"/>
          <a:lstStyle/>
          <a:p>
            <a:pPr marL="0" indent="0" algn="l">
              <a:lnSpc>
                <a:spcPts val="2550"/>
              </a:lnSpc>
              <a:buNone/>
            </a:pPr>
            <a:r>
              <a:rPr lang="en-US" sz="2400" dirty="0">
                <a:solidFill>
                  <a:srgbClr val="1E3063"/>
                </a:solidFill>
                <a:latin typeface="Instrument Sans Medium" pitchFamily="34" charset="0"/>
                <a:ea typeface="Instrument Sans Medium" pitchFamily="34" charset="-122"/>
                <a:cs typeface="Instrument Sans Medium" pitchFamily="34" charset="-120"/>
              </a:rPr>
              <a:t>Traditional interview evaluations are subjective and prone to human bias. Candidates often lack objective feedback on crucial communication aspects:</a:t>
            </a:r>
            <a:endParaRPr lang="en-US" sz="2400" dirty="0"/>
          </a:p>
        </p:txBody>
      </p:sp>
      <p:sp>
        <p:nvSpPr>
          <p:cNvPr id="4" name="Shape 2"/>
          <p:cNvSpPr/>
          <p:nvPr/>
        </p:nvSpPr>
        <p:spPr>
          <a:xfrm>
            <a:off x="715685" y="3468767"/>
            <a:ext cx="4263390" cy="1550789"/>
          </a:xfrm>
          <a:prstGeom prst="roundRect">
            <a:avLst>
              <a:gd name="adj" fmla="val 7076"/>
            </a:avLst>
          </a:prstGeom>
          <a:solidFill>
            <a:srgbClr val="FFFFFF"/>
          </a:solidFill>
          <a:ln w="22860">
            <a:solidFill>
              <a:srgbClr val="B4CCE3"/>
            </a:solidFill>
            <a:prstDash val="solid"/>
          </a:ln>
        </p:spPr>
      </p:sp>
      <p:sp>
        <p:nvSpPr>
          <p:cNvPr id="5" name="Shape 3"/>
          <p:cNvSpPr/>
          <p:nvPr/>
        </p:nvSpPr>
        <p:spPr>
          <a:xfrm>
            <a:off x="692825" y="3468767"/>
            <a:ext cx="91440" cy="1550789"/>
          </a:xfrm>
          <a:prstGeom prst="roundRect">
            <a:avLst>
              <a:gd name="adj" fmla="val 201266"/>
            </a:avLst>
          </a:prstGeom>
          <a:solidFill>
            <a:srgbClr val="84C1FA"/>
          </a:solidFill>
          <a:ln/>
        </p:spPr>
      </p:sp>
      <p:sp>
        <p:nvSpPr>
          <p:cNvPr id="6" name="Text 4"/>
          <p:cNvSpPr/>
          <p:nvPr/>
        </p:nvSpPr>
        <p:spPr>
          <a:xfrm>
            <a:off x="1011555" y="3696057"/>
            <a:ext cx="3303746" cy="319445"/>
          </a:xfrm>
          <a:prstGeom prst="rect">
            <a:avLst/>
          </a:prstGeom>
          <a:noFill/>
          <a:ln/>
        </p:spPr>
        <p:txBody>
          <a:bodyPr wrap="none" lIns="0" tIns="0" rIns="0" bIns="0" rtlCol="0" anchor="t"/>
          <a:lstStyle/>
          <a:p>
            <a:pPr marL="0" indent="0" algn="l">
              <a:lnSpc>
                <a:spcPts val="250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Lack of Objective Feedback</a:t>
            </a:r>
            <a:endParaRPr lang="en-US" sz="2000" dirty="0"/>
          </a:p>
        </p:txBody>
      </p:sp>
      <p:sp>
        <p:nvSpPr>
          <p:cNvPr id="7" name="Text 5"/>
          <p:cNvSpPr/>
          <p:nvPr/>
        </p:nvSpPr>
        <p:spPr>
          <a:xfrm>
            <a:off x="1011555" y="4138136"/>
            <a:ext cx="3740229" cy="654129"/>
          </a:xfrm>
          <a:prstGeom prst="rect">
            <a:avLst/>
          </a:prstGeom>
          <a:noFill/>
          <a:ln/>
        </p:spPr>
        <p:txBody>
          <a:bodyPr wrap="squar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Assessments are inconsistent and subjective.</a:t>
            </a:r>
            <a:endParaRPr lang="en-US" sz="1600" dirty="0"/>
          </a:p>
        </p:txBody>
      </p:sp>
      <p:sp>
        <p:nvSpPr>
          <p:cNvPr id="8" name="Shape 6"/>
          <p:cNvSpPr/>
          <p:nvPr/>
        </p:nvSpPr>
        <p:spPr>
          <a:xfrm>
            <a:off x="5183505" y="3468767"/>
            <a:ext cx="4263390" cy="1550789"/>
          </a:xfrm>
          <a:prstGeom prst="roundRect">
            <a:avLst>
              <a:gd name="adj" fmla="val 7076"/>
            </a:avLst>
          </a:prstGeom>
          <a:solidFill>
            <a:srgbClr val="FFFFFF"/>
          </a:solidFill>
          <a:ln w="22860">
            <a:solidFill>
              <a:srgbClr val="B4CCE3"/>
            </a:solidFill>
            <a:prstDash val="solid"/>
          </a:ln>
        </p:spPr>
      </p:sp>
      <p:sp>
        <p:nvSpPr>
          <p:cNvPr id="9" name="Shape 7"/>
          <p:cNvSpPr/>
          <p:nvPr/>
        </p:nvSpPr>
        <p:spPr>
          <a:xfrm>
            <a:off x="5160645" y="3468767"/>
            <a:ext cx="91440" cy="1550789"/>
          </a:xfrm>
          <a:prstGeom prst="roundRect">
            <a:avLst>
              <a:gd name="adj" fmla="val 201266"/>
            </a:avLst>
          </a:prstGeom>
          <a:solidFill>
            <a:srgbClr val="84C1FA"/>
          </a:solidFill>
          <a:ln/>
        </p:spPr>
      </p:sp>
      <p:sp>
        <p:nvSpPr>
          <p:cNvPr id="10" name="Text 8"/>
          <p:cNvSpPr/>
          <p:nvPr/>
        </p:nvSpPr>
        <p:spPr>
          <a:xfrm>
            <a:off x="5479375" y="3696057"/>
            <a:ext cx="2556034" cy="319445"/>
          </a:xfrm>
          <a:prstGeom prst="rect">
            <a:avLst/>
          </a:prstGeom>
          <a:noFill/>
          <a:ln/>
        </p:spPr>
        <p:txBody>
          <a:bodyPr wrap="none" lIns="0" tIns="0" rIns="0" bIns="0" rtlCol="0" anchor="t"/>
          <a:lstStyle/>
          <a:p>
            <a:pPr marL="0" indent="0" algn="l">
              <a:lnSpc>
                <a:spcPts val="250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Non-verbal Gaps</a:t>
            </a:r>
            <a:endParaRPr lang="en-US" sz="2000" dirty="0"/>
          </a:p>
        </p:txBody>
      </p:sp>
      <p:sp>
        <p:nvSpPr>
          <p:cNvPr id="11" name="Text 9"/>
          <p:cNvSpPr/>
          <p:nvPr/>
        </p:nvSpPr>
        <p:spPr>
          <a:xfrm>
            <a:off x="5479375" y="4138136"/>
            <a:ext cx="3740229" cy="654129"/>
          </a:xfrm>
          <a:prstGeom prst="rect">
            <a:avLst/>
          </a:prstGeom>
          <a:noFill/>
          <a:ln/>
        </p:spPr>
        <p:txBody>
          <a:bodyPr wrap="squar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Candidates are unaware of their facial expressions or body language.</a:t>
            </a:r>
            <a:endParaRPr lang="en-US" sz="1600" dirty="0"/>
          </a:p>
        </p:txBody>
      </p:sp>
      <p:sp>
        <p:nvSpPr>
          <p:cNvPr id="12" name="Shape 10"/>
          <p:cNvSpPr/>
          <p:nvPr/>
        </p:nvSpPr>
        <p:spPr>
          <a:xfrm>
            <a:off x="9651325" y="3468767"/>
            <a:ext cx="4263390" cy="1550789"/>
          </a:xfrm>
          <a:prstGeom prst="roundRect">
            <a:avLst>
              <a:gd name="adj" fmla="val 7076"/>
            </a:avLst>
          </a:prstGeom>
          <a:solidFill>
            <a:srgbClr val="FFFFFF"/>
          </a:solidFill>
          <a:ln w="22860">
            <a:solidFill>
              <a:srgbClr val="B4CCE3"/>
            </a:solidFill>
            <a:prstDash val="solid"/>
          </a:ln>
        </p:spPr>
      </p:sp>
      <p:sp>
        <p:nvSpPr>
          <p:cNvPr id="13" name="Shape 11"/>
          <p:cNvSpPr/>
          <p:nvPr/>
        </p:nvSpPr>
        <p:spPr>
          <a:xfrm>
            <a:off x="9628465" y="3468767"/>
            <a:ext cx="91440" cy="1550789"/>
          </a:xfrm>
          <a:prstGeom prst="roundRect">
            <a:avLst>
              <a:gd name="adj" fmla="val 201266"/>
            </a:avLst>
          </a:prstGeom>
          <a:solidFill>
            <a:srgbClr val="84C1FA"/>
          </a:solidFill>
          <a:ln/>
        </p:spPr>
      </p:sp>
      <p:sp>
        <p:nvSpPr>
          <p:cNvPr id="14" name="Text 12"/>
          <p:cNvSpPr/>
          <p:nvPr/>
        </p:nvSpPr>
        <p:spPr>
          <a:xfrm>
            <a:off x="9947196" y="3696057"/>
            <a:ext cx="2556034" cy="319445"/>
          </a:xfrm>
          <a:prstGeom prst="rect">
            <a:avLst/>
          </a:prstGeom>
          <a:noFill/>
          <a:ln/>
        </p:spPr>
        <p:txBody>
          <a:bodyPr wrap="none" lIns="0" tIns="0" rIns="0" bIns="0" rtlCol="0" anchor="t"/>
          <a:lstStyle/>
          <a:p>
            <a:pPr marL="0" indent="0" algn="l">
              <a:lnSpc>
                <a:spcPts val="250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Emotional State</a:t>
            </a:r>
            <a:endParaRPr lang="en-US" sz="2000" dirty="0"/>
          </a:p>
        </p:txBody>
      </p:sp>
      <p:sp>
        <p:nvSpPr>
          <p:cNvPr id="15" name="Text 13"/>
          <p:cNvSpPr/>
          <p:nvPr/>
        </p:nvSpPr>
        <p:spPr>
          <a:xfrm>
            <a:off x="9947196" y="4138136"/>
            <a:ext cx="3740229" cy="654129"/>
          </a:xfrm>
          <a:prstGeom prst="rect">
            <a:avLst/>
          </a:prstGeom>
          <a:noFill/>
          <a:ln/>
        </p:spPr>
        <p:txBody>
          <a:bodyPr wrap="squar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Nervousness and anxiety are hard to self-assess.</a:t>
            </a:r>
            <a:endParaRPr lang="en-US" sz="1600" dirty="0"/>
          </a:p>
        </p:txBody>
      </p:sp>
      <p:sp>
        <p:nvSpPr>
          <p:cNvPr id="16" name="Shape 14"/>
          <p:cNvSpPr/>
          <p:nvPr/>
        </p:nvSpPr>
        <p:spPr>
          <a:xfrm>
            <a:off x="715685" y="5223986"/>
            <a:ext cx="4263390" cy="1550789"/>
          </a:xfrm>
          <a:prstGeom prst="roundRect">
            <a:avLst>
              <a:gd name="adj" fmla="val 7076"/>
            </a:avLst>
          </a:prstGeom>
          <a:solidFill>
            <a:srgbClr val="FFFFFF"/>
          </a:solidFill>
          <a:ln w="22860">
            <a:solidFill>
              <a:srgbClr val="B4CCE3"/>
            </a:solidFill>
            <a:prstDash val="solid"/>
          </a:ln>
        </p:spPr>
      </p:sp>
      <p:sp>
        <p:nvSpPr>
          <p:cNvPr id="17" name="Shape 15"/>
          <p:cNvSpPr/>
          <p:nvPr/>
        </p:nvSpPr>
        <p:spPr>
          <a:xfrm>
            <a:off x="692825" y="5223986"/>
            <a:ext cx="91440" cy="1550789"/>
          </a:xfrm>
          <a:prstGeom prst="roundRect">
            <a:avLst>
              <a:gd name="adj" fmla="val 201266"/>
            </a:avLst>
          </a:prstGeom>
          <a:solidFill>
            <a:srgbClr val="84C1FA"/>
          </a:solidFill>
          <a:ln/>
        </p:spPr>
      </p:sp>
      <p:sp>
        <p:nvSpPr>
          <p:cNvPr id="18" name="Text 16"/>
          <p:cNvSpPr/>
          <p:nvPr/>
        </p:nvSpPr>
        <p:spPr>
          <a:xfrm>
            <a:off x="1011555" y="5451277"/>
            <a:ext cx="2556034" cy="319445"/>
          </a:xfrm>
          <a:prstGeom prst="rect">
            <a:avLst/>
          </a:prstGeom>
          <a:noFill/>
          <a:ln/>
        </p:spPr>
        <p:txBody>
          <a:bodyPr wrap="none" lIns="0" tIns="0" rIns="0" bIns="0" rtlCol="0" anchor="t"/>
          <a:lstStyle/>
          <a:p>
            <a:pPr marL="0" indent="0" algn="l">
              <a:lnSpc>
                <a:spcPts val="250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Speech Patterns</a:t>
            </a:r>
            <a:endParaRPr lang="en-US" sz="2000" dirty="0"/>
          </a:p>
        </p:txBody>
      </p:sp>
      <p:sp>
        <p:nvSpPr>
          <p:cNvPr id="19" name="Text 17"/>
          <p:cNvSpPr/>
          <p:nvPr/>
        </p:nvSpPr>
        <p:spPr>
          <a:xfrm>
            <a:off x="1011555" y="5893356"/>
            <a:ext cx="3740229" cy="654129"/>
          </a:xfrm>
          <a:prstGeom prst="rect">
            <a:avLst/>
          </a:prstGeom>
          <a:noFill/>
          <a:ln/>
        </p:spPr>
        <p:txBody>
          <a:bodyPr wrap="squar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Voice emotions impact outcomes but are hard to evaluate in real-time.</a:t>
            </a:r>
            <a:endParaRPr lang="en-US" sz="1600" dirty="0"/>
          </a:p>
        </p:txBody>
      </p:sp>
      <p:sp>
        <p:nvSpPr>
          <p:cNvPr id="20" name="Shape 18"/>
          <p:cNvSpPr/>
          <p:nvPr/>
        </p:nvSpPr>
        <p:spPr>
          <a:xfrm>
            <a:off x="5183505" y="5223986"/>
            <a:ext cx="4263390" cy="1550789"/>
          </a:xfrm>
          <a:prstGeom prst="roundRect">
            <a:avLst>
              <a:gd name="adj" fmla="val 7076"/>
            </a:avLst>
          </a:prstGeom>
          <a:solidFill>
            <a:srgbClr val="FFFFFF"/>
          </a:solidFill>
          <a:ln w="22860">
            <a:solidFill>
              <a:srgbClr val="B4CCE3"/>
            </a:solidFill>
            <a:prstDash val="solid"/>
          </a:ln>
        </p:spPr>
      </p:sp>
      <p:sp>
        <p:nvSpPr>
          <p:cNvPr id="21" name="Shape 19"/>
          <p:cNvSpPr/>
          <p:nvPr/>
        </p:nvSpPr>
        <p:spPr>
          <a:xfrm>
            <a:off x="5160645" y="5223986"/>
            <a:ext cx="91440" cy="1550789"/>
          </a:xfrm>
          <a:prstGeom prst="roundRect">
            <a:avLst>
              <a:gd name="adj" fmla="val 201266"/>
            </a:avLst>
          </a:prstGeom>
          <a:solidFill>
            <a:srgbClr val="84C1FA"/>
          </a:solidFill>
          <a:ln/>
        </p:spPr>
      </p:sp>
      <p:sp>
        <p:nvSpPr>
          <p:cNvPr id="22" name="Text 20"/>
          <p:cNvSpPr/>
          <p:nvPr/>
        </p:nvSpPr>
        <p:spPr>
          <a:xfrm>
            <a:off x="5479375" y="5451277"/>
            <a:ext cx="2556034" cy="319445"/>
          </a:xfrm>
          <a:prstGeom prst="rect">
            <a:avLst/>
          </a:prstGeom>
          <a:noFill/>
          <a:ln/>
        </p:spPr>
        <p:txBody>
          <a:bodyPr wrap="none" lIns="0" tIns="0" rIns="0" bIns="0" rtlCol="0" anchor="t"/>
          <a:lstStyle/>
          <a:p>
            <a:pPr marL="0" indent="0" algn="l">
              <a:lnSpc>
                <a:spcPts val="250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Limited Coaching</a:t>
            </a:r>
            <a:endParaRPr lang="en-US" sz="2000" dirty="0"/>
          </a:p>
        </p:txBody>
      </p:sp>
      <p:sp>
        <p:nvSpPr>
          <p:cNvPr id="23" name="Text 21"/>
          <p:cNvSpPr/>
          <p:nvPr/>
        </p:nvSpPr>
        <p:spPr>
          <a:xfrm>
            <a:off x="5479375" y="5893356"/>
            <a:ext cx="3740229" cy="654129"/>
          </a:xfrm>
          <a:prstGeom prst="rect">
            <a:avLst/>
          </a:prstGeom>
          <a:noFill/>
          <a:ln/>
        </p:spPr>
        <p:txBody>
          <a:bodyPr wrap="squar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Professional services are expensive and inaccessible.</a:t>
            </a:r>
            <a:endParaRPr lang="en-US" sz="1600" dirty="0"/>
          </a:p>
        </p:txBody>
      </p:sp>
      <p:sp>
        <p:nvSpPr>
          <p:cNvPr id="24" name="Text 22"/>
          <p:cNvSpPr/>
          <p:nvPr/>
        </p:nvSpPr>
        <p:spPr>
          <a:xfrm>
            <a:off x="715685" y="7004804"/>
            <a:ext cx="12584679" cy="559778"/>
          </a:xfrm>
          <a:prstGeom prst="rect">
            <a:avLst/>
          </a:prstGeom>
          <a:noFill/>
          <a:ln/>
        </p:spPr>
        <p:txBody>
          <a:bodyPr wrap="none" lIns="0" tIns="0" rIns="0" bIns="0" rtlCol="0" anchor="t"/>
          <a:lstStyle/>
          <a:p>
            <a:pPr marL="0" indent="0" algn="l">
              <a:lnSpc>
                <a:spcPts val="255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This project aims to provide automated, AI-based, objective, real-time feedback on facial expressions </a:t>
            </a:r>
            <a:br>
              <a:rPr lang="en-US" sz="2000" dirty="0">
                <a:solidFill>
                  <a:srgbClr val="1E3063"/>
                </a:solidFill>
                <a:latin typeface="Instrument Sans Medium" pitchFamily="34" charset="0"/>
                <a:ea typeface="Instrument Sans Medium" pitchFamily="34" charset="-122"/>
                <a:cs typeface="Instrument Sans Medium" pitchFamily="34" charset="-120"/>
              </a:rPr>
            </a:br>
            <a:r>
              <a:rPr lang="en-US" sz="2000" dirty="0">
                <a:solidFill>
                  <a:srgbClr val="1E3063"/>
                </a:solidFill>
                <a:latin typeface="Instrument Sans Medium" pitchFamily="34" charset="0"/>
                <a:ea typeface="Instrument Sans Medium" pitchFamily="34" charset="-122"/>
                <a:cs typeface="Instrument Sans Medium" pitchFamily="34" charset="-120"/>
              </a:rPr>
              <a:t>and speech emotions.</a:t>
            </a:r>
            <a:endParaRPr lang="en-US" sz="2000" dirty="0"/>
          </a:p>
        </p:txBody>
      </p:sp>
      <p:pic>
        <p:nvPicPr>
          <p:cNvPr id="26" name="Picture 25">
            <a:extLst>
              <a:ext uri="{FF2B5EF4-FFF2-40B4-BE49-F238E27FC236}">
                <a16:creationId xmlns:a16="http://schemas.microsoft.com/office/drawing/2014/main" id="{6A5268CE-3855-EDB6-1A63-0BB059CA74F3}"/>
              </a:ext>
            </a:extLst>
          </p:cNvPr>
          <p:cNvPicPr>
            <a:picLocks noChangeAspect="1"/>
          </p:cNvPicPr>
          <p:nvPr/>
        </p:nvPicPr>
        <p:blipFill>
          <a:blip r:embed="rId3"/>
          <a:stretch>
            <a:fillRect/>
          </a:stretch>
        </p:blipFill>
        <p:spPr>
          <a:xfrm>
            <a:off x="11687175" y="7564582"/>
            <a:ext cx="2943225" cy="6191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22166" y="465712"/>
            <a:ext cx="3786068" cy="473273"/>
          </a:xfrm>
          <a:prstGeom prst="rect">
            <a:avLst/>
          </a:prstGeom>
          <a:noFill/>
          <a:ln/>
        </p:spPr>
        <p:txBody>
          <a:bodyPr wrap="none" lIns="0" tIns="0" rIns="0" bIns="0" rtlCol="0" anchor="t"/>
          <a:lstStyle/>
          <a:p>
            <a:pPr marL="0" indent="0" algn="ctr">
              <a:lnSpc>
                <a:spcPts val="3700"/>
              </a:lnSpc>
              <a:buNone/>
            </a:pPr>
            <a:r>
              <a:rPr lang="en-US" sz="2800" b="1" dirty="0">
                <a:solidFill>
                  <a:srgbClr val="091C53"/>
                </a:solidFill>
                <a:latin typeface="Instrument Sans Semi Bold" pitchFamily="34" charset="0"/>
                <a:ea typeface="Instrument Sans Semi Bold" pitchFamily="34" charset="-122"/>
                <a:cs typeface="Instrument Sans Semi Bold" pitchFamily="34" charset="-120"/>
              </a:rPr>
              <a:t>Project Objectives</a:t>
            </a:r>
            <a:endParaRPr lang="en-US" sz="2800" b="1" dirty="0"/>
          </a:p>
        </p:txBody>
      </p:sp>
      <p:sp>
        <p:nvSpPr>
          <p:cNvPr id="3" name="Text 1"/>
          <p:cNvSpPr/>
          <p:nvPr/>
        </p:nvSpPr>
        <p:spPr>
          <a:xfrm>
            <a:off x="529947" y="1192530"/>
            <a:ext cx="13570506" cy="242292"/>
          </a:xfrm>
          <a:prstGeom prst="rect">
            <a:avLst/>
          </a:prstGeom>
          <a:noFill/>
          <a:ln/>
        </p:spPr>
        <p:txBody>
          <a:bodyPr wrap="none" lIns="0" tIns="0" rIns="0" bIns="0" rtlCol="0" anchor="t"/>
          <a:lstStyle/>
          <a:p>
            <a:pPr marL="0" indent="0" algn="l">
              <a:lnSpc>
                <a:spcPts val="190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Our primary goals are to develop a comprehensive AI interview analysis system:</a:t>
            </a:r>
            <a:endParaRPr lang="en-US" sz="2000" dirty="0"/>
          </a:p>
        </p:txBody>
      </p:sp>
      <p:sp>
        <p:nvSpPr>
          <p:cNvPr id="4" name="Shape 2"/>
          <p:cNvSpPr/>
          <p:nvPr/>
        </p:nvSpPr>
        <p:spPr>
          <a:xfrm>
            <a:off x="529947" y="1605082"/>
            <a:ext cx="605671" cy="908566"/>
          </a:xfrm>
          <a:prstGeom prst="roundRect">
            <a:avLst>
              <a:gd name="adj" fmla="val 360066"/>
            </a:avLst>
          </a:prstGeom>
          <a:solidFill>
            <a:srgbClr val="CEE6FD"/>
          </a:solidFill>
          <a:ln/>
        </p:spPr>
      </p:sp>
      <p:sp>
        <p:nvSpPr>
          <p:cNvPr id="5" name="Text 3"/>
          <p:cNvSpPr/>
          <p:nvPr/>
        </p:nvSpPr>
        <p:spPr>
          <a:xfrm>
            <a:off x="719257" y="1917383"/>
            <a:ext cx="227052" cy="283845"/>
          </a:xfrm>
          <a:prstGeom prst="rect">
            <a:avLst/>
          </a:prstGeom>
          <a:noFill/>
          <a:ln/>
        </p:spPr>
        <p:txBody>
          <a:bodyPr wrap="none" lIns="0" tIns="0" rIns="0" bIns="0" rtlCol="0" anchor="t"/>
          <a:lstStyle/>
          <a:p>
            <a:pPr marL="0" indent="0" algn="l">
              <a:lnSpc>
                <a:spcPts val="175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1</a:t>
            </a:r>
            <a:endParaRPr lang="en-US" sz="2000" dirty="0"/>
          </a:p>
        </p:txBody>
      </p:sp>
      <p:sp>
        <p:nvSpPr>
          <p:cNvPr id="6" name="Text 4"/>
          <p:cNvSpPr/>
          <p:nvPr/>
        </p:nvSpPr>
        <p:spPr>
          <a:xfrm>
            <a:off x="1286947" y="1756410"/>
            <a:ext cx="3147774" cy="236577"/>
          </a:xfrm>
          <a:prstGeom prst="rect">
            <a:avLst/>
          </a:prstGeom>
          <a:noFill/>
          <a:ln/>
        </p:spPr>
        <p:txBody>
          <a:bodyPr wrap="none" lIns="0" tIns="0" rIns="0" bIns="0" rtlCol="0" anchor="t"/>
          <a:lstStyle/>
          <a:p>
            <a:pPr marL="0" indent="0" algn="l">
              <a:lnSpc>
                <a:spcPts val="1850"/>
              </a:lnSpc>
              <a:buNone/>
            </a:pPr>
            <a:r>
              <a:rPr lang="en-US" sz="2000" b="1" dirty="0">
                <a:solidFill>
                  <a:srgbClr val="1E3063"/>
                </a:solidFill>
                <a:latin typeface="Instrument Sans Semi Bold" pitchFamily="34" charset="0"/>
                <a:ea typeface="Instrument Sans Semi Bold" pitchFamily="34" charset="-122"/>
                <a:cs typeface="Instrument Sans Semi Bold" pitchFamily="34" charset="-120"/>
              </a:rPr>
              <a:t>Real-time Facial Emotion Detection</a:t>
            </a:r>
            <a:endParaRPr lang="en-US" sz="2000" b="1" dirty="0"/>
          </a:p>
        </p:txBody>
      </p:sp>
      <p:sp>
        <p:nvSpPr>
          <p:cNvPr id="7" name="Text 5"/>
          <p:cNvSpPr/>
          <p:nvPr/>
        </p:nvSpPr>
        <p:spPr>
          <a:xfrm>
            <a:off x="1286947" y="2083832"/>
            <a:ext cx="12813506" cy="242292"/>
          </a:xfrm>
          <a:prstGeom prst="rect">
            <a:avLst/>
          </a:prstGeom>
          <a:noFill/>
          <a:ln/>
        </p:spPr>
        <p:txBody>
          <a:bodyPr wrap="none" lIns="0" tIns="0" rIns="0" bIns="0" rtlCol="0" anchor="t"/>
          <a:lstStyle/>
          <a:p>
            <a:pPr marL="0" indent="0" algn="l">
              <a:lnSpc>
                <a:spcPts val="190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Implement deep learning for 7 emotion classifications (FER2013 dataset).</a:t>
            </a:r>
            <a:endParaRPr lang="en-US" sz="2000" dirty="0"/>
          </a:p>
        </p:txBody>
      </p:sp>
      <p:sp>
        <p:nvSpPr>
          <p:cNvPr id="8" name="Shape 6"/>
          <p:cNvSpPr/>
          <p:nvPr/>
        </p:nvSpPr>
        <p:spPr>
          <a:xfrm>
            <a:off x="529947" y="2664976"/>
            <a:ext cx="605671" cy="908566"/>
          </a:xfrm>
          <a:prstGeom prst="roundRect">
            <a:avLst>
              <a:gd name="adj" fmla="val 360066"/>
            </a:avLst>
          </a:prstGeom>
          <a:solidFill>
            <a:srgbClr val="CEE6FD"/>
          </a:solidFill>
          <a:ln/>
        </p:spPr>
      </p:sp>
      <p:sp>
        <p:nvSpPr>
          <p:cNvPr id="9" name="Text 7"/>
          <p:cNvSpPr/>
          <p:nvPr/>
        </p:nvSpPr>
        <p:spPr>
          <a:xfrm>
            <a:off x="719257" y="2977277"/>
            <a:ext cx="227052" cy="283845"/>
          </a:xfrm>
          <a:prstGeom prst="rect">
            <a:avLst/>
          </a:prstGeom>
          <a:noFill/>
          <a:ln/>
        </p:spPr>
        <p:txBody>
          <a:bodyPr wrap="none" lIns="0" tIns="0" rIns="0" bIns="0" rtlCol="0" anchor="t"/>
          <a:lstStyle/>
          <a:p>
            <a:pPr marL="0" indent="0" algn="l">
              <a:lnSpc>
                <a:spcPts val="175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2</a:t>
            </a:r>
            <a:endParaRPr lang="en-US" sz="2000" dirty="0"/>
          </a:p>
        </p:txBody>
      </p:sp>
      <p:sp>
        <p:nvSpPr>
          <p:cNvPr id="10" name="Text 8"/>
          <p:cNvSpPr/>
          <p:nvPr/>
        </p:nvSpPr>
        <p:spPr>
          <a:xfrm>
            <a:off x="1286947" y="2816304"/>
            <a:ext cx="2594015" cy="236577"/>
          </a:xfrm>
          <a:prstGeom prst="rect">
            <a:avLst/>
          </a:prstGeom>
          <a:noFill/>
          <a:ln/>
        </p:spPr>
        <p:txBody>
          <a:bodyPr wrap="none" lIns="0" tIns="0" rIns="0" bIns="0" rtlCol="0" anchor="t"/>
          <a:lstStyle/>
          <a:p>
            <a:pPr marL="0" indent="0" algn="l">
              <a:lnSpc>
                <a:spcPts val="1850"/>
              </a:lnSpc>
              <a:buNone/>
            </a:pPr>
            <a:r>
              <a:rPr lang="en-US" sz="2000" b="1" dirty="0">
                <a:solidFill>
                  <a:srgbClr val="1E3063"/>
                </a:solidFill>
                <a:latin typeface="Instrument Sans Semi Bold" pitchFamily="34" charset="0"/>
                <a:ea typeface="Instrument Sans Semi Bold" pitchFamily="34" charset="-122"/>
                <a:cs typeface="Instrument Sans Semi Bold" pitchFamily="34" charset="-120"/>
              </a:rPr>
              <a:t>Speech Emotion Recognition</a:t>
            </a:r>
            <a:endParaRPr lang="en-US" sz="2000" b="1" dirty="0"/>
          </a:p>
        </p:txBody>
      </p:sp>
      <p:sp>
        <p:nvSpPr>
          <p:cNvPr id="11" name="Text 9"/>
          <p:cNvSpPr/>
          <p:nvPr/>
        </p:nvSpPr>
        <p:spPr>
          <a:xfrm>
            <a:off x="1286947" y="3143726"/>
            <a:ext cx="12813506" cy="242292"/>
          </a:xfrm>
          <a:prstGeom prst="rect">
            <a:avLst/>
          </a:prstGeom>
          <a:noFill/>
          <a:ln/>
        </p:spPr>
        <p:txBody>
          <a:bodyPr wrap="none" lIns="0" tIns="0" rIns="0" bIns="0" rtlCol="0" anchor="t"/>
          <a:lstStyle/>
          <a:p>
            <a:pPr marL="0" indent="0" algn="l">
              <a:lnSpc>
                <a:spcPts val="190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Integrate Wav2Vec2 model for speech pattern emotion analysis.</a:t>
            </a:r>
            <a:endParaRPr lang="en-US" sz="2000" dirty="0"/>
          </a:p>
        </p:txBody>
      </p:sp>
      <p:sp>
        <p:nvSpPr>
          <p:cNvPr id="12" name="Shape 10"/>
          <p:cNvSpPr/>
          <p:nvPr/>
        </p:nvSpPr>
        <p:spPr>
          <a:xfrm>
            <a:off x="529947" y="3724870"/>
            <a:ext cx="605671" cy="908566"/>
          </a:xfrm>
          <a:prstGeom prst="roundRect">
            <a:avLst>
              <a:gd name="adj" fmla="val 360066"/>
            </a:avLst>
          </a:prstGeom>
          <a:solidFill>
            <a:srgbClr val="CEE6FD"/>
          </a:solidFill>
          <a:ln/>
        </p:spPr>
      </p:sp>
      <p:sp>
        <p:nvSpPr>
          <p:cNvPr id="13" name="Text 11"/>
          <p:cNvSpPr/>
          <p:nvPr/>
        </p:nvSpPr>
        <p:spPr>
          <a:xfrm>
            <a:off x="719257" y="4037171"/>
            <a:ext cx="227052" cy="283845"/>
          </a:xfrm>
          <a:prstGeom prst="rect">
            <a:avLst/>
          </a:prstGeom>
          <a:noFill/>
          <a:ln/>
        </p:spPr>
        <p:txBody>
          <a:bodyPr wrap="none" lIns="0" tIns="0" rIns="0" bIns="0" rtlCol="0" anchor="t"/>
          <a:lstStyle/>
          <a:p>
            <a:pPr marL="0" indent="0" algn="l">
              <a:lnSpc>
                <a:spcPts val="175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3</a:t>
            </a:r>
            <a:endParaRPr lang="en-US" sz="2000" dirty="0"/>
          </a:p>
        </p:txBody>
      </p:sp>
      <p:sp>
        <p:nvSpPr>
          <p:cNvPr id="14" name="Text 12"/>
          <p:cNvSpPr/>
          <p:nvPr/>
        </p:nvSpPr>
        <p:spPr>
          <a:xfrm>
            <a:off x="1286947" y="3876199"/>
            <a:ext cx="2358747" cy="236577"/>
          </a:xfrm>
          <a:prstGeom prst="rect">
            <a:avLst/>
          </a:prstGeom>
          <a:noFill/>
          <a:ln/>
        </p:spPr>
        <p:txBody>
          <a:bodyPr wrap="none" lIns="0" tIns="0" rIns="0" bIns="0" rtlCol="0" anchor="t"/>
          <a:lstStyle/>
          <a:p>
            <a:pPr marL="0" indent="0" algn="l">
              <a:lnSpc>
                <a:spcPts val="1850"/>
              </a:lnSpc>
              <a:buNone/>
            </a:pPr>
            <a:r>
              <a:rPr lang="en-US" sz="2000" b="1" dirty="0">
                <a:solidFill>
                  <a:srgbClr val="1E3063"/>
                </a:solidFill>
                <a:latin typeface="Instrument Sans Semi Bold" pitchFamily="34" charset="0"/>
                <a:ea typeface="Instrument Sans Semi Bold" pitchFamily="34" charset="-122"/>
                <a:cs typeface="Instrument Sans Semi Bold" pitchFamily="34" charset="-120"/>
              </a:rPr>
              <a:t>Multimodal Fusion System</a:t>
            </a:r>
            <a:endParaRPr lang="en-US" sz="2000" b="1" dirty="0"/>
          </a:p>
        </p:txBody>
      </p:sp>
      <p:sp>
        <p:nvSpPr>
          <p:cNvPr id="15" name="Text 13"/>
          <p:cNvSpPr/>
          <p:nvPr/>
        </p:nvSpPr>
        <p:spPr>
          <a:xfrm>
            <a:off x="1286947" y="4203621"/>
            <a:ext cx="12813506" cy="242292"/>
          </a:xfrm>
          <a:prstGeom prst="rect">
            <a:avLst/>
          </a:prstGeom>
          <a:noFill/>
          <a:ln/>
        </p:spPr>
        <p:txBody>
          <a:bodyPr wrap="none" lIns="0" tIns="0" rIns="0" bIns="0" rtlCol="0" anchor="t"/>
          <a:lstStyle/>
          <a:p>
            <a:pPr marL="0" indent="0" algn="l">
              <a:lnSpc>
                <a:spcPts val="190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Combine facial and speech analysis with weighted scoring for evaluation.</a:t>
            </a:r>
            <a:endParaRPr lang="en-US" sz="2000" dirty="0"/>
          </a:p>
        </p:txBody>
      </p:sp>
      <p:sp>
        <p:nvSpPr>
          <p:cNvPr id="16" name="Shape 14"/>
          <p:cNvSpPr/>
          <p:nvPr/>
        </p:nvSpPr>
        <p:spPr>
          <a:xfrm>
            <a:off x="529947" y="4784765"/>
            <a:ext cx="605671" cy="908566"/>
          </a:xfrm>
          <a:prstGeom prst="roundRect">
            <a:avLst>
              <a:gd name="adj" fmla="val 360066"/>
            </a:avLst>
          </a:prstGeom>
          <a:solidFill>
            <a:srgbClr val="CEE6FD"/>
          </a:solidFill>
          <a:ln/>
        </p:spPr>
      </p:sp>
      <p:sp>
        <p:nvSpPr>
          <p:cNvPr id="17" name="Text 15"/>
          <p:cNvSpPr/>
          <p:nvPr/>
        </p:nvSpPr>
        <p:spPr>
          <a:xfrm>
            <a:off x="719257" y="5097066"/>
            <a:ext cx="227052" cy="283845"/>
          </a:xfrm>
          <a:prstGeom prst="rect">
            <a:avLst/>
          </a:prstGeom>
          <a:noFill/>
          <a:ln/>
        </p:spPr>
        <p:txBody>
          <a:bodyPr wrap="none" lIns="0" tIns="0" rIns="0" bIns="0" rtlCol="0" anchor="t"/>
          <a:lstStyle/>
          <a:p>
            <a:pPr marL="0" indent="0" algn="l">
              <a:lnSpc>
                <a:spcPts val="175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4</a:t>
            </a:r>
            <a:endParaRPr lang="en-US" sz="2000" dirty="0"/>
          </a:p>
        </p:txBody>
      </p:sp>
      <p:sp>
        <p:nvSpPr>
          <p:cNvPr id="18" name="Text 16"/>
          <p:cNvSpPr/>
          <p:nvPr/>
        </p:nvSpPr>
        <p:spPr>
          <a:xfrm>
            <a:off x="1286947" y="4936093"/>
            <a:ext cx="1892975" cy="236577"/>
          </a:xfrm>
          <a:prstGeom prst="rect">
            <a:avLst/>
          </a:prstGeom>
          <a:noFill/>
          <a:ln/>
        </p:spPr>
        <p:txBody>
          <a:bodyPr wrap="none" lIns="0" tIns="0" rIns="0" bIns="0" rtlCol="0" anchor="t"/>
          <a:lstStyle/>
          <a:p>
            <a:pPr marL="0" indent="0" algn="l">
              <a:lnSpc>
                <a:spcPts val="1850"/>
              </a:lnSpc>
              <a:buNone/>
            </a:pPr>
            <a:r>
              <a:rPr lang="en-US" sz="2000" b="1" dirty="0">
                <a:solidFill>
                  <a:srgbClr val="1E3063"/>
                </a:solidFill>
                <a:latin typeface="Instrument Sans Semi Bold" pitchFamily="34" charset="0"/>
                <a:ea typeface="Instrument Sans Semi Bold" pitchFamily="34" charset="-122"/>
                <a:cs typeface="Instrument Sans Semi Bold" pitchFamily="34" charset="-120"/>
              </a:rPr>
              <a:t>Eye Contact Tracking</a:t>
            </a:r>
            <a:endParaRPr lang="en-US" sz="2000" b="1" dirty="0"/>
          </a:p>
        </p:txBody>
      </p:sp>
      <p:sp>
        <p:nvSpPr>
          <p:cNvPr id="19" name="Text 17"/>
          <p:cNvSpPr/>
          <p:nvPr/>
        </p:nvSpPr>
        <p:spPr>
          <a:xfrm>
            <a:off x="1286947" y="5263515"/>
            <a:ext cx="12813506" cy="242292"/>
          </a:xfrm>
          <a:prstGeom prst="rect">
            <a:avLst/>
          </a:prstGeom>
          <a:noFill/>
          <a:ln/>
        </p:spPr>
        <p:txBody>
          <a:bodyPr wrap="none" lIns="0" tIns="0" rIns="0" bIns="0" rtlCol="0" anchor="t"/>
          <a:lstStyle/>
          <a:p>
            <a:pPr marL="0" indent="0" algn="l">
              <a:lnSpc>
                <a:spcPts val="190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Monitor and measure eye contact using face detection landmarks.</a:t>
            </a:r>
            <a:endParaRPr lang="en-US" sz="2000" dirty="0"/>
          </a:p>
        </p:txBody>
      </p:sp>
      <p:sp>
        <p:nvSpPr>
          <p:cNvPr id="20" name="Shape 18"/>
          <p:cNvSpPr/>
          <p:nvPr/>
        </p:nvSpPr>
        <p:spPr>
          <a:xfrm>
            <a:off x="529947" y="5844659"/>
            <a:ext cx="605671" cy="908566"/>
          </a:xfrm>
          <a:prstGeom prst="roundRect">
            <a:avLst>
              <a:gd name="adj" fmla="val 360066"/>
            </a:avLst>
          </a:prstGeom>
          <a:solidFill>
            <a:srgbClr val="CEE6FD"/>
          </a:solidFill>
          <a:ln/>
        </p:spPr>
      </p:sp>
      <p:sp>
        <p:nvSpPr>
          <p:cNvPr id="21" name="Text 19"/>
          <p:cNvSpPr/>
          <p:nvPr/>
        </p:nvSpPr>
        <p:spPr>
          <a:xfrm>
            <a:off x="719257" y="6156960"/>
            <a:ext cx="227052" cy="283845"/>
          </a:xfrm>
          <a:prstGeom prst="rect">
            <a:avLst/>
          </a:prstGeom>
          <a:noFill/>
          <a:ln/>
        </p:spPr>
        <p:txBody>
          <a:bodyPr wrap="none" lIns="0" tIns="0" rIns="0" bIns="0" rtlCol="0" anchor="t"/>
          <a:lstStyle/>
          <a:p>
            <a:pPr marL="0" indent="0" algn="l">
              <a:lnSpc>
                <a:spcPts val="175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5</a:t>
            </a:r>
            <a:endParaRPr lang="en-US" sz="2000" dirty="0"/>
          </a:p>
        </p:txBody>
      </p:sp>
      <p:sp>
        <p:nvSpPr>
          <p:cNvPr id="22" name="Text 20"/>
          <p:cNvSpPr/>
          <p:nvPr/>
        </p:nvSpPr>
        <p:spPr>
          <a:xfrm>
            <a:off x="1286947" y="5995988"/>
            <a:ext cx="2158484" cy="236577"/>
          </a:xfrm>
          <a:prstGeom prst="rect">
            <a:avLst/>
          </a:prstGeom>
          <a:noFill/>
          <a:ln/>
        </p:spPr>
        <p:txBody>
          <a:bodyPr wrap="none" lIns="0" tIns="0" rIns="0" bIns="0" rtlCol="0" anchor="t"/>
          <a:lstStyle/>
          <a:p>
            <a:pPr marL="0" indent="0" algn="l">
              <a:lnSpc>
                <a:spcPts val="1850"/>
              </a:lnSpc>
              <a:buNone/>
            </a:pPr>
            <a:r>
              <a:rPr lang="en-US" sz="2000" b="1" dirty="0">
                <a:solidFill>
                  <a:srgbClr val="1E3063"/>
                </a:solidFill>
                <a:latin typeface="Instrument Sans Semi Bold" pitchFamily="34" charset="0"/>
                <a:ea typeface="Instrument Sans Semi Bold" pitchFamily="34" charset="-122"/>
                <a:cs typeface="Instrument Sans Semi Bold" pitchFamily="34" charset="-120"/>
              </a:rPr>
              <a:t>Comprehensive Reports</a:t>
            </a:r>
            <a:endParaRPr lang="en-US" sz="2000" b="1" dirty="0"/>
          </a:p>
        </p:txBody>
      </p:sp>
      <p:sp>
        <p:nvSpPr>
          <p:cNvPr id="23" name="Text 21"/>
          <p:cNvSpPr/>
          <p:nvPr/>
        </p:nvSpPr>
        <p:spPr>
          <a:xfrm>
            <a:off x="1286947" y="6323409"/>
            <a:ext cx="12813506" cy="242292"/>
          </a:xfrm>
          <a:prstGeom prst="rect">
            <a:avLst/>
          </a:prstGeom>
          <a:noFill/>
          <a:ln/>
        </p:spPr>
        <p:txBody>
          <a:bodyPr wrap="none" lIns="0" tIns="0" rIns="0" bIns="0" rtlCol="0" anchor="t"/>
          <a:lstStyle/>
          <a:p>
            <a:pPr marL="0" indent="0" algn="l">
              <a:lnSpc>
                <a:spcPts val="190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Generate detailed JSON reports with scores and recommendations.</a:t>
            </a:r>
            <a:endParaRPr lang="en-US" sz="2000" dirty="0"/>
          </a:p>
        </p:txBody>
      </p:sp>
      <p:sp>
        <p:nvSpPr>
          <p:cNvPr id="24" name="Shape 22"/>
          <p:cNvSpPr/>
          <p:nvPr/>
        </p:nvSpPr>
        <p:spPr>
          <a:xfrm>
            <a:off x="529947" y="6904553"/>
            <a:ext cx="605671" cy="908566"/>
          </a:xfrm>
          <a:prstGeom prst="roundRect">
            <a:avLst>
              <a:gd name="adj" fmla="val 360066"/>
            </a:avLst>
          </a:prstGeom>
          <a:solidFill>
            <a:srgbClr val="CEE6FD"/>
          </a:solidFill>
          <a:ln/>
        </p:spPr>
      </p:sp>
      <p:sp>
        <p:nvSpPr>
          <p:cNvPr id="25" name="Text 23"/>
          <p:cNvSpPr/>
          <p:nvPr/>
        </p:nvSpPr>
        <p:spPr>
          <a:xfrm>
            <a:off x="719257" y="7216854"/>
            <a:ext cx="227052" cy="283845"/>
          </a:xfrm>
          <a:prstGeom prst="rect">
            <a:avLst/>
          </a:prstGeom>
          <a:noFill/>
          <a:ln/>
        </p:spPr>
        <p:txBody>
          <a:bodyPr wrap="none" lIns="0" tIns="0" rIns="0" bIns="0" rtlCol="0" anchor="t"/>
          <a:lstStyle/>
          <a:p>
            <a:pPr marL="0" indent="0" algn="l">
              <a:lnSpc>
                <a:spcPts val="175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6</a:t>
            </a:r>
            <a:endParaRPr lang="en-US" sz="2000" dirty="0"/>
          </a:p>
        </p:txBody>
      </p:sp>
      <p:sp>
        <p:nvSpPr>
          <p:cNvPr id="26" name="Text 24"/>
          <p:cNvSpPr/>
          <p:nvPr/>
        </p:nvSpPr>
        <p:spPr>
          <a:xfrm>
            <a:off x="1286947" y="7055882"/>
            <a:ext cx="2052757" cy="236577"/>
          </a:xfrm>
          <a:prstGeom prst="rect">
            <a:avLst/>
          </a:prstGeom>
          <a:noFill/>
          <a:ln/>
        </p:spPr>
        <p:txBody>
          <a:bodyPr wrap="none" lIns="0" tIns="0" rIns="0" bIns="0" rtlCol="0" anchor="t"/>
          <a:lstStyle/>
          <a:p>
            <a:pPr marL="0" indent="0" algn="l">
              <a:lnSpc>
                <a:spcPts val="1850"/>
              </a:lnSpc>
              <a:buNone/>
            </a:pPr>
            <a:r>
              <a:rPr lang="en-US" sz="2000" b="1" dirty="0">
                <a:solidFill>
                  <a:srgbClr val="1E3063"/>
                </a:solidFill>
                <a:latin typeface="Instrument Sans Semi Bold" pitchFamily="34" charset="0"/>
                <a:ea typeface="Instrument Sans Semi Bold" pitchFamily="34" charset="-122"/>
                <a:cs typeface="Instrument Sans Semi Bold" pitchFamily="34" charset="-120"/>
              </a:rPr>
              <a:t>User-Friendly Interface</a:t>
            </a:r>
            <a:endParaRPr lang="en-US" sz="2000" b="1" dirty="0"/>
          </a:p>
        </p:txBody>
      </p:sp>
      <p:sp>
        <p:nvSpPr>
          <p:cNvPr id="27" name="Text 25"/>
          <p:cNvSpPr/>
          <p:nvPr/>
        </p:nvSpPr>
        <p:spPr>
          <a:xfrm>
            <a:off x="1286947" y="7383304"/>
            <a:ext cx="12813506" cy="242292"/>
          </a:xfrm>
          <a:prstGeom prst="rect">
            <a:avLst/>
          </a:prstGeom>
          <a:noFill/>
          <a:ln/>
        </p:spPr>
        <p:txBody>
          <a:bodyPr wrap="none" lIns="0" tIns="0" rIns="0" bIns="0" rtlCol="0" anchor="t"/>
          <a:lstStyle/>
          <a:p>
            <a:pPr marL="0" indent="0" algn="l">
              <a:lnSpc>
                <a:spcPts val="190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Build an intuitive Flask web-based interface for recording and analysis.</a:t>
            </a:r>
            <a:endParaRPr lang="en-US" sz="2000" dirty="0"/>
          </a:p>
        </p:txBody>
      </p:sp>
      <p:pic>
        <p:nvPicPr>
          <p:cNvPr id="29" name="Picture 28">
            <a:extLst>
              <a:ext uri="{FF2B5EF4-FFF2-40B4-BE49-F238E27FC236}">
                <a16:creationId xmlns:a16="http://schemas.microsoft.com/office/drawing/2014/main" id="{0C6BC9A5-7B47-0E54-44E8-1611FB28BCE3}"/>
              </a:ext>
            </a:extLst>
          </p:cNvPr>
          <p:cNvPicPr>
            <a:picLocks noChangeAspect="1"/>
          </p:cNvPicPr>
          <p:nvPr/>
        </p:nvPicPr>
        <p:blipFill>
          <a:blip r:embed="rId3"/>
          <a:stretch>
            <a:fillRect/>
          </a:stretch>
        </p:blipFill>
        <p:spPr>
          <a:xfrm>
            <a:off x="11571287" y="7541815"/>
            <a:ext cx="2943225" cy="6191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83287" y="458272"/>
            <a:ext cx="8936474" cy="520898"/>
          </a:xfrm>
          <a:prstGeom prst="rect">
            <a:avLst/>
          </a:prstGeom>
          <a:noFill/>
          <a:ln/>
        </p:spPr>
        <p:txBody>
          <a:bodyPr wrap="none" lIns="0" tIns="0" rIns="0" bIns="0" rtlCol="0" anchor="t"/>
          <a:lstStyle/>
          <a:p>
            <a:pPr marL="0" indent="0" algn="l">
              <a:lnSpc>
                <a:spcPts val="4100"/>
              </a:lnSpc>
              <a:buNone/>
            </a:pPr>
            <a:r>
              <a:rPr lang="en-US" sz="3250" dirty="0">
                <a:solidFill>
                  <a:srgbClr val="091C53"/>
                </a:solidFill>
                <a:latin typeface="Instrument Sans Semi Bold" pitchFamily="34" charset="0"/>
                <a:ea typeface="Instrument Sans Semi Bold" pitchFamily="34" charset="-122"/>
                <a:cs typeface="Instrument Sans Semi Bold" pitchFamily="34" charset="-120"/>
              </a:rPr>
              <a:t>Literature Review: Facial Emotion Recognition</a:t>
            </a:r>
            <a:endParaRPr lang="en-US" sz="3250" dirty="0"/>
          </a:p>
        </p:txBody>
      </p:sp>
      <p:sp>
        <p:nvSpPr>
          <p:cNvPr id="3" name="Text 1"/>
          <p:cNvSpPr/>
          <p:nvPr/>
        </p:nvSpPr>
        <p:spPr>
          <a:xfrm>
            <a:off x="583287" y="1312426"/>
            <a:ext cx="13463826" cy="266700"/>
          </a:xfrm>
          <a:prstGeom prst="rect">
            <a:avLst/>
          </a:prstGeom>
          <a:noFill/>
          <a:ln/>
        </p:spPr>
        <p:txBody>
          <a:bodyPr wrap="none" lIns="0" tIns="0" rIns="0" bIns="0" rtlCol="0" anchor="t"/>
          <a:lstStyle/>
          <a:p>
            <a:pPr marL="0" indent="0" algn="just">
              <a:lnSpc>
                <a:spcPts val="205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Facial Emotion Recognition (FER) is a well-researched field. The FER2013 dataset,</a:t>
            </a:r>
            <a:br>
              <a:rPr lang="en-US" sz="2000" dirty="0">
                <a:solidFill>
                  <a:srgbClr val="1E3063"/>
                </a:solidFill>
                <a:latin typeface="Instrument Sans Medium" pitchFamily="34" charset="0"/>
                <a:ea typeface="Instrument Sans Medium" pitchFamily="34" charset="-122"/>
                <a:cs typeface="Instrument Sans Medium" pitchFamily="34" charset="-120"/>
              </a:rPr>
            </a:br>
            <a:r>
              <a:rPr lang="en-US" sz="2000" dirty="0">
                <a:solidFill>
                  <a:srgbClr val="1E3063"/>
                </a:solidFill>
                <a:latin typeface="Instrument Sans Medium" pitchFamily="34" charset="0"/>
                <a:ea typeface="Instrument Sans Medium" pitchFamily="34" charset="-122"/>
                <a:cs typeface="Instrument Sans Medium" pitchFamily="34" charset="-120"/>
              </a:rPr>
              <a:t> with ~35,000 grayscale images across seven emotion categories, is a key benchmark.</a:t>
            </a:r>
            <a:endParaRPr lang="en-US" sz="2000" dirty="0"/>
          </a:p>
        </p:txBody>
      </p:sp>
      <p:pic>
        <p:nvPicPr>
          <p:cNvPr id="4" name="Image 0" descr="preencoded.png"/>
          <p:cNvPicPr>
            <a:picLocks noChangeAspect="1"/>
          </p:cNvPicPr>
          <p:nvPr/>
        </p:nvPicPr>
        <p:blipFill>
          <a:blip r:embed="rId3"/>
          <a:stretch>
            <a:fillRect/>
          </a:stretch>
        </p:blipFill>
        <p:spPr>
          <a:xfrm>
            <a:off x="583287" y="1953936"/>
            <a:ext cx="6528673" cy="6073784"/>
          </a:xfrm>
          <a:prstGeom prst="rect">
            <a:avLst/>
          </a:prstGeom>
        </p:spPr>
      </p:pic>
      <p:sp>
        <p:nvSpPr>
          <p:cNvPr id="5" name="Text 2"/>
          <p:cNvSpPr/>
          <p:nvPr/>
        </p:nvSpPr>
        <p:spPr>
          <a:xfrm>
            <a:off x="7518439" y="2213313"/>
            <a:ext cx="6528673" cy="800100"/>
          </a:xfrm>
          <a:prstGeom prst="rect">
            <a:avLst/>
          </a:prstGeom>
          <a:noFill/>
          <a:ln/>
        </p:spPr>
        <p:txBody>
          <a:bodyPr wrap="square" lIns="0" tIns="0" rIns="0" bIns="0" rtlCol="0" anchor="t"/>
          <a:lstStyle/>
          <a:p>
            <a:pPr marL="0" indent="0" algn="just">
              <a:lnSpc>
                <a:spcPts val="205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Convolutional Neural Networks (CNNs) are highly effective for FER, showing significant accuracy improvements over traditional methods (Goodfellow et al., 2013).</a:t>
            </a:r>
            <a:endParaRPr lang="en-US" sz="2000" dirty="0"/>
          </a:p>
        </p:txBody>
      </p:sp>
      <p:sp>
        <p:nvSpPr>
          <p:cNvPr id="6" name="Text 3"/>
          <p:cNvSpPr/>
          <p:nvPr/>
        </p:nvSpPr>
        <p:spPr>
          <a:xfrm>
            <a:off x="7518440" y="3412695"/>
            <a:ext cx="6528673" cy="800100"/>
          </a:xfrm>
          <a:prstGeom prst="rect">
            <a:avLst/>
          </a:prstGeom>
          <a:noFill/>
          <a:ln/>
        </p:spPr>
        <p:txBody>
          <a:bodyPr wrap="square" lIns="0" tIns="0" rIns="0" bIns="0" rtlCol="0" anchor="t"/>
          <a:lstStyle/>
          <a:p>
            <a:pPr marL="0" indent="0" algn="just">
              <a:lnSpc>
                <a:spcPts val="205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Recent work combines CNNs with attention mechanisms and transfer learning. Google's MediaPipe provides robust, real-time face detection using BlazeFace architecture, widely used in production.</a:t>
            </a:r>
            <a:endParaRPr lang="en-US" sz="2000" dirty="0"/>
          </a:p>
        </p:txBody>
      </p:sp>
      <p:pic>
        <p:nvPicPr>
          <p:cNvPr id="8" name="Picture 7">
            <a:extLst>
              <a:ext uri="{FF2B5EF4-FFF2-40B4-BE49-F238E27FC236}">
                <a16:creationId xmlns:a16="http://schemas.microsoft.com/office/drawing/2014/main" id="{6F0F8D8F-6054-8903-115A-83E48885DD7E}"/>
              </a:ext>
            </a:extLst>
          </p:cNvPr>
          <p:cNvPicPr>
            <a:picLocks noChangeAspect="1"/>
          </p:cNvPicPr>
          <p:nvPr/>
        </p:nvPicPr>
        <p:blipFill>
          <a:blip r:embed="rId4"/>
          <a:stretch>
            <a:fillRect/>
          </a:stretch>
        </p:blipFill>
        <p:spPr>
          <a:xfrm>
            <a:off x="11571287" y="7610475"/>
            <a:ext cx="2943225" cy="6191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264087"/>
            <a:ext cx="12658844" cy="708779"/>
          </a:xfrm>
          <a:prstGeom prst="rect">
            <a:avLst/>
          </a:prstGeom>
          <a:noFill/>
          <a:ln/>
        </p:spPr>
        <p:txBody>
          <a:bodyPr wrap="none" lIns="0" tIns="0" rIns="0" bIns="0" rtlCol="0" anchor="t"/>
          <a:lstStyle/>
          <a:p>
            <a:pPr marL="0" indent="0" algn="l">
              <a:lnSpc>
                <a:spcPts val="5550"/>
              </a:lnSpc>
              <a:buNone/>
            </a:pPr>
            <a:r>
              <a:rPr lang="en-US" sz="4800" dirty="0">
                <a:solidFill>
                  <a:srgbClr val="091C53"/>
                </a:solidFill>
                <a:latin typeface="Instrument Sans Semi Bold" pitchFamily="34" charset="0"/>
                <a:ea typeface="Instrument Sans Semi Bold" pitchFamily="34" charset="-122"/>
                <a:cs typeface="Instrument Sans Semi Bold" pitchFamily="34" charset="-120"/>
              </a:rPr>
              <a:t>Literature Review: Speech Emotion Recognition</a:t>
            </a:r>
            <a:endParaRPr lang="en-US" sz="4800" dirty="0"/>
          </a:p>
        </p:txBody>
      </p:sp>
      <p:sp>
        <p:nvSpPr>
          <p:cNvPr id="3" name="Text 1"/>
          <p:cNvSpPr/>
          <p:nvPr/>
        </p:nvSpPr>
        <p:spPr>
          <a:xfrm>
            <a:off x="793790" y="2426494"/>
            <a:ext cx="13042821" cy="362903"/>
          </a:xfrm>
          <a:prstGeom prst="rect">
            <a:avLst/>
          </a:prstGeom>
          <a:noFill/>
          <a:ln/>
        </p:spPr>
        <p:txBody>
          <a:bodyPr wrap="none" lIns="0" tIns="0" rIns="0" bIns="0" rtlCol="0" anchor="t"/>
          <a:lstStyle/>
          <a:p>
            <a:pPr marL="0" indent="0" algn="l">
              <a:lnSpc>
                <a:spcPts val="2850"/>
              </a:lnSpc>
              <a:buNone/>
            </a:pPr>
            <a:r>
              <a:rPr lang="en-US" dirty="0">
                <a:solidFill>
                  <a:srgbClr val="1E3063"/>
                </a:solidFill>
                <a:latin typeface="Instrument Sans Medium" pitchFamily="34" charset="0"/>
                <a:ea typeface="Instrument Sans Medium" pitchFamily="34" charset="-122"/>
                <a:cs typeface="Instrument Sans Medium" pitchFamily="34" charset="-120"/>
              </a:rPr>
              <a:t>Speech Emotion Recognition (SER) has advanced from traditional acoustic features to deep learning.</a:t>
            </a:r>
            <a:endParaRPr lang="en-US" dirty="0"/>
          </a:p>
        </p:txBody>
      </p:sp>
      <p:sp>
        <p:nvSpPr>
          <p:cNvPr id="4" name="Shape 2"/>
          <p:cNvSpPr/>
          <p:nvPr/>
        </p:nvSpPr>
        <p:spPr>
          <a:xfrm>
            <a:off x="793790" y="3044547"/>
            <a:ext cx="4196358" cy="3302913"/>
          </a:xfrm>
          <a:prstGeom prst="roundRect">
            <a:avLst>
              <a:gd name="adj" fmla="val 6181"/>
            </a:avLst>
          </a:prstGeom>
          <a:solidFill>
            <a:srgbClr val="CEE6FD"/>
          </a:solidFill>
          <a:ln/>
        </p:spPr>
      </p:sp>
      <p:sp>
        <p:nvSpPr>
          <p:cNvPr id="5" name="Shape 3"/>
          <p:cNvSpPr/>
          <p:nvPr/>
        </p:nvSpPr>
        <p:spPr>
          <a:xfrm>
            <a:off x="1020604" y="3271361"/>
            <a:ext cx="680442" cy="680442"/>
          </a:xfrm>
          <a:prstGeom prst="roundRect">
            <a:avLst>
              <a:gd name="adj" fmla="val 13436980"/>
            </a:avLst>
          </a:prstGeom>
          <a:solidFill>
            <a:srgbClr val="84C1FA"/>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07770" y="3458408"/>
            <a:ext cx="306110" cy="306110"/>
          </a:xfrm>
          <a:prstGeom prst="rect">
            <a:avLst/>
          </a:prstGeom>
        </p:spPr>
      </p:pic>
      <p:sp>
        <p:nvSpPr>
          <p:cNvPr id="7" name="Text 4"/>
          <p:cNvSpPr/>
          <p:nvPr/>
        </p:nvSpPr>
        <p:spPr>
          <a:xfrm>
            <a:off x="1020604" y="4178617"/>
            <a:ext cx="2835235" cy="354330"/>
          </a:xfrm>
          <a:prstGeom prst="rect">
            <a:avLst/>
          </a:prstGeom>
          <a:noFill/>
          <a:ln/>
        </p:spPr>
        <p:txBody>
          <a:bodyPr wrap="none" lIns="0" tIns="0" rIns="0" bIns="0" rtlCol="0" anchor="t"/>
          <a:lstStyle/>
          <a:p>
            <a:pPr marL="0" indent="0" algn="l">
              <a:lnSpc>
                <a:spcPts val="2750"/>
              </a:lnSpc>
              <a:buNone/>
            </a:pPr>
            <a:r>
              <a:rPr lang="en-US" sz="2400" dirty="0">
                <a:solidFill>
                  <a:srgbClr val="1E3063"/>
                </a:solidFill>
                <a:latin typeface="Instrument Sans Semi Bold" pitchFamily="34" charset="0"/>
                <a:ea typeface="Instrument Sans Semi Bold" pitchFamily="34" charset="-122"/>
                <a:cs typeface="Instrument Sans Semi Bold" pitchFamily="34" charset="-120"/>
              </a:rPr>
              <a:t>Early Methods</a:t>
            </a:r>
            <a:endParaRPr lang="en-US" sz="2400" dirty="0"/>
          </a:p>
        </p:txBody>
      </p:sp>
      <p:sp>
        <p:nvSpPr>
          <p:cNvPr id="8" name="Text 5"/>
          <p:cNvSpPr/>
          <p:nvPr/>
        </p:nvSpPr>
        <p:spPr>
          <a:xfrm>
            <a:off x="1020604" y="4669036"/>
            <a:ext cx="3742730" cy="725805"/>
          </a:xfrm>
          <a:prstGeom prst="rect">
            <a:avLst/>
          </a:prstGeom>
          <a:noFill/>
          <a:ln/>
        </p:spPr>
        <p:txBody>
          <a:bodyPr wrap="square" lIns="0" tIns="0" rIns="0" bIns="0" rtlCol="0" anchor="t"/>
          <a:lstStyle/>
          <a:p>
            <a:pPr marL="0" indent="0" algn="l">
              <a:lnSpc>
                <a:spcPts val="2850"/>
              </a:lnSpc>
              <a:buNone/>
            </a:pPr>
            <a:r>
              <a:rPr lang="en-US" dirty="0">
                <a:solidFill>
                  <a:srgbClr val="1E3063"/>
                </a:solidFill>
                <a:latin typeface="Instrument Sans Medium" pitchFamily="34" charset="0"/>
                <a:ea typeface="Instrument Sans Medium" pitchFamily="34" charset="-122"/>
                <a:cs typeface="Instrument Sans Medium" pitchFamily="34" charset="-120"/>
              </a:rPr>
              <a:t>Relied on handcrafted features like MFCCs, pitch, and energy.</a:t>
            </a:r>
            <a:endParaRPr lang="en-US" dirty="0"/>
          </a:p>
        </p:txBody>
      </p:sp>
      <p:sp>
        <p:nvSpPr>
          <p:cNvPr id="9" name="Shape 6"/>
          <p:cNvSpPr/>
          <p:nvPr/>
        </p:nvSpPr>
        <p:spPr>
          <a:xfrm>
            <a:off x="5216962" y="3044547"/>
            <a:ext cx="4196358" cy="3302913"/>
          </a:xfrm>
          <a:prstGeom prst="roundRect">
            <a:avLst>
              <a:gd name="adj" fmla="val 6181"/>
            </a:avLst>
          </a:prstGeom>
          <a:solidFill>
            <a:srgbClr val="CEE6FD"/>
          </a:solidFill>
          <a:ln/>
        </p:spPr>
      </p:sp>
      <p:sp>
        <p:nvSpPr>
          <p:cNvPr id="10" name="Shape 7"/>
          <p:cNvSpPr/>
          <p:nvPr/>
        </p:nvSpPr>
        <p:spPr>
          <a:xfrm>
            <a:off x="5443776" y="3271361"/>
            <a:ext cx="680442" cy="680442"/>
          </a:xfrm>
          <a:prstGeom prst="roundRect">
            <a:avLst>
              <a:gd name="adj" fmla="val 13436980"/>
            </a:avLst>
          </a:prstGeom>
          <a:solidFill>
            <a:srgbClr val="84C1FA"/>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30942" y="3458408"/>
            <a:ext cx="306110" cy="306110"/>
          </a:xfrm>
          <a:prstGeom prst="rect">
            <a:avLst/>
          </a:prstGeom>
        </p:spPr>
      </p:pic>
      <p:sp>
        <p:nvSpPr>
          <p:cNvPr id="12" name="Text 8"/>
          <p:cNvSpPr/>
          <p:nvPr/>
        </p:nvSpPr>
        <p:spPr>
          <a:xfrm>
            <a:off x="5443776" y="4178617"/>
            <a:ext cx="2835235" cy="354330"/>
          </a:xfrm>
          <a:prstGeom prst="rect">
            <a:avLst/>
          </a:prstGeom>
          <a:noFill/>
          <a:ln/>
        </p:spPr>
        <p:txBody>
          <a:bodyPr wrap="none" lIns="0" tIns="0" rIns="0" bIns="0" rtlCol="0" anchor="t"/>
          <a:lstStyle/>
          <a:p>
            <a:pPr marL="0" indent="0" algn="l">
              <a:lnSpc>
                <a:spcPts val="2750"/>
              </a:lnSpc>
              <a:buNone/>
            </a:pPr>
            <a:r>
              <a:rPr lang="en-US" sz="2400" dirty="0">
                <a:solidFill>
                  <a:srgbClr val="1E3063"/>
                </a:solidFill>
                <a:latin typeface="Instrument Sans Semi Bold" pitchFamily="34" charset="0"/>
                <a:ea typeface="Instrument Sans Semi Bold" pitchFamily="34" charset="-122"/>
                <a:cs typeface="Instrument Sans Semi Bold" pitchFamily="34" charset="-120"/>
              </a:rPr>
              <a:t>Transformer Models</a:t>
            </a:r>
            <a:endParaRPr lang="en-US" sz="2400" dirty="0"/>
          </a:p>
        </p:txBody>
      </p:sp>
      <p:sp>
        <p:nvSpPr>
          <p:cNvPr id="13" name="Text 9"/>
          <p:cNvSpPr/>
          <p:nvPr/>
        </p:nvSpPr>
        <p:spPr>
          <a:xfrm>
            <a:off x="5443776" y="4669036"/>
            <a:ext cx="3742730" cy="1451610"/>
          </a:xfrm>
          <a:prstGeom prst="rect">
            <a:avLst/>
          </a:prstGeom>
          <a:noFill/>
          <a:ln/>
        </p:spPr>
        <p:txBody>
          <a:bodyPr wrap="square" lIns="0" tIns="0" rIns="0" bIns="0" rtlCol="0" anchor="t"/>
          <a:lstStyle/>
          <a:p>
            <a:pPr marL="0" indent="0" algn="l">
              <a:lnSpc>
                <a:spcPts val="2850"/>
              </a:lnSpc>
              <a:buNone/>
            </a:pPr>
            <a:r>
              <a:rPr lang="en-US" dirty="0">
                <a:solidFill>
                  <a:srgbClr val="1E3063"/>
                </a:solidFill>
                <a:latin typeface="Instrument Sans Medium" pitchFamily="34" charset="0"/>
                <a:ea typeface="Instrument Sans Medium" pitchFamily="34" charset="-122"/>
                <a:cs typeface="Instrument Sans Medium" pitchFamily="34" charset="-120"/>
              </a:rPr>
              <a:t>Wav2Vec2 (Facebook AI) revolutionized SER by learning speech representations from raw audio.</a:t>
            </a:r>
            <a:endParaRPr lang="en-US" dirty="0"/>
          </a:p>
        </p:txBody>
      </p:sp>
      <p:sp>
        <p:nvSpPr>
          <p:cNvPr id="14" name="Shape 10"/>
          <p:cNvSpPr/>
          <p:nvPr/>
        </p:nvSpPr>
        <p:spPr>
          <a:xfrm>
            <a:off x="9640133" y="3044547"/>
            <a:ext cx="4196358" cy="3302913"/>
          </a:xfrm>
          <a:prstGeom prst="roundRect">
            <a:avLst>
              <a:gd name="adj" fmla="val 6181"/>
            </a:avLst>
          </a:prstGeom>
          <a:solidFill>
            <a:srgbClr val="CEE6FD"/>
          </a:solidFill>
          <a:ln/>
        </p:spPr>
      </p:sp>
      <p:sp>
        <p:nvSpPr>
          <p:cNvPr id="15" name="Shape 11"/>
          <p:cNvSpPr/>
          <p:nvPr/>
        </p:nvSpPr>
        <p:spPr>
          <a:xfrm>
            <a:off x="9866948" y="3271361"/>
            <a:ext cx="680442" cy="680442"/>
          </a:xfrm>
          <a:prstGeom prst="roundRect">
            <a:avLst>
              <a:gd name="adj" fmla="val 13436980"/>
            </a:avLst>
          </a:prstGeom>
          <a:solidFill>
            <a:srgbClr val="84C1FA"/>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54114" y="3458408"/>
            <a:ext cx="306110" cy="306110"/>
          </a:xfrm>
          <a:prstGeom prst="rect">
            <a:avLst/>
          </a:prstGeom>
        </p:spPr>
      </p:pic>
      <p:sp>
        <p:nvSpPr>
          <p:cNvPr id="17" name="Text 12"/>
          <p:cNvSpPr/>
          <p:nvPr/>
        </p:nvSpPr>
        <p:spPr>
          <a:xfrm>
            <a:off x="9866948" y="4178617"/>
            <a:ext cx="2835235" cy="354330"/>
          </a:xfrm>
          <a:prstGeom prst="rect">
            <a:avLst/>
          </a:prstGeom>
          <a:noFill/>
          <a:ln/>
        </p:spPr>
        <p:txBody>
          <a:bodyPr wrap="none" lIns="0" tIns="0" rIns="0" bIns="0" rtlCol="0" anchor="t"/>
          <a:lstStyle/>
          <a:p>
            <a:pPr marL="0" indent="0" algn="l">
              <a:lnSpc>
                <a:spcPts val="2750"/>
              </a:lnSpc>
              <a:buNone/>
            </a:pPr>
            <a:r>
              <a:rPr lang="en-US" sz="2400" dirty="0">
                <a:solidFill>
                  <a:srgbClr val="1E3063"/>
                </a:solidFill>
                <a:latin typeface="Instrument Sans Semi Bold" pitchFamily="34" charset="0"/>
                <a:ea typeface="Instrument Sans Semi Bold" pitchFamily="34" charset="-122"/>
                <a:cs typeface="Instrument Sans Semi Bold" pitchFamily="34" charset="-120"/>
              </a:rPr>
              <a:t>State-of-the-Art</a:t>
            </a:r>
            <a:endParaRPr lang="en-US" sz="2400" dirty="0"/>
          </a:p>
        </p:txBody>
      </p:sp>
      <p:sp>
        <p:nvSpPr>
          <p:cNvPr id="18" name="Text 13"/>
          <p:cNvSpPr/>
          <p:nvPr/>
        </p:nvSpPr>
        <p:spPr>
          <a:xfrm>
            <a:off x="9866948" y="4669036"/>
            <a:ext cx="3742730" cy="1088708"/>
          </a:xfrm>
          <a:prstGeom prst="rect">
            <a:avLst/>
          </a:prstGeom>
          <a:noFill/>
          <a:ln/>
        </p:spPr>
        <p:txBody>
          <a:bodyPr wrap="square" lIns="0" tIns="0" rIns="0" bIns="0" rtlCol="0" anchor="t"/>
          <a:lstStyle/>
          <a:p>
            <a:pPr marL="0" indent="0" algn="l">
              <a:lnSpc>
                <a:spcPts val="2850"/>
              </a:lnSpc>
              <a:buNone/>
            </a:pPr>
            <a:r>
              <a:rPr lang="en-US" dirty="0">
                <a:solidFill>
                  <a:srgbClr val="1E3063"/>
                </a:solidFill>
                <a:latin typeface="Instrument Sans Medium" pitchFamily="34" charset="0"/>
                <a:ea typeface="Instrument Sans Medium" pitchFamily="34" charset="-122"/>
                <a:cs typeface="Instrument Sans Medium" pitchFamily="34" charset="-120"/>
              </a:rPr>
              <a:t>Wav2Vec2 achieves top results on various speech tasks through self-supervised learning.</a:t>
            </a:r>
            <a:endParaRPr lang="en-US" dirty="0"/>
          </a:p>
        </p:txBody>
      </p:sp>
      <p:sp>
        <p:nvSpPr>
          <p:cNvPr id="19" name="Text 14"/>
          <p:cNvSpPr/>
          <p:nvPr/>
        </p:nvSpPr>
        <p:spPr>
          <a:xfrm>
            <a:off x="793790" y="6602611"/>
            <a:ext cx="13042821" cy="362903"/>
          </a:xfrm>
          <a:prstGeom prst="rect">
            <a:avLst/>
          </a:prstGeom>
          <a:noFill/>
          <a:ln/>
        </p:spPr>
        <p:txBody>
          <a:bodyPr wrap="none" lIns="0" tIns="0" rIns="0" bIns="0" rtlCol="0" anchor="t"/>
          <a:lstStyle/>
          <a:p>
            <a:pPr marL="0" indent="0" algn="l">
              <a:lnSpc>
                <a:spcPts val="2850"/>
              </a:lnSpc>
              <a:buNone/>
            </a:pPr>
            <a:r>
              <a:rPr lang="en-US" dirty="0">
                <a:solidFill>
                  <a:srgbClr val="1E3063"/>
                </a:solidFill>
                <a:latin typeface="Instrument Sans Medium" pitchFamily="34" charset="0"/>
                <a:ea typeface="Instrument Sans Medium" pitchFamily="34" charset="-122"/>
                <a:cs typeface="Instrument Sans Medium" pitchFamily="34" charset="-120"/>
              </a:rPr>
              <a:t>The RAVDESS dataset offers high-quality audio-visual recordings (7,356 files, 8 emotion categories) for SER research.</a:t>
            </a:r>
            <a:endParaRPr lang="en-US" dirty="0"/>
          </a:p>
        </p:txBody>
      </p:sp>
      <p:pic>
        <p:nvPicPr>
          <p:cNvPr id="21" name="Picture 20">
            <a:extLst>
              <a:ext uri="{FF2B5EF4-FFF2-40B4-BE49-F238E27FC236}">
                <a16:creationId xmlns:a16="http://schemas.microsoft.com/office/drawing/2014/main" id="{E8BC8F50-27CB-E20B-8694-F2F2F6F814EB}"/>
              </a:ext>
            </a:extLst>
          </p:cNvPr>
          <p:cNvPicPr>
            <a:picLocks noChangeAspect="1"/>
          </p:cNvPicPr>
          <p:nvPr/>
        </p:nvPicPr>
        <p:blipFill>
          <a:blip r:embed="rId9"/>
          <a:stretch>
            <a:fillRect/>
          </a:stretch>
        </p:blipFill>
        <p:spPr>
          <a:xfrm>
            <a:off x="11558587" y="7610475"/>
            <a:ext cx="2943225" cy="6191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96835" y="311825"/>
            <a:ext cx="6108025" cy="354330"/>
          </a:xfrm>
          <a:prstGeom prst="rect">
            <a:avLst/>
          </a:prstGeom>
          <a:noFill/>
          <a:ln/>
        </p:spPr>
        <p:txBody>
          <a:bodyPr wrap="none" lIns="0" tIns="0" rIns="0" bIns="0" rtlCol="0" anchor="t"/>
          <a:lstStyle/>
          <a:p>
            <a:pPr marL="0" indent="0" algn="l">
              <a:lnSpc>
                <a:spcPts val="2750"/>
              </a:lnSpc>
              <a:buNone/>
            </a:pPr>
            <a:r>
              <a:rPr lang="en-US" sz="4800" dirty="0">
                <a:solidFill>
                  <a:srgbClr val="091C53"/>
                </a:solidFill>
                <a:latin typeface="Instrument Sans Semi Bold" pitchFamily="34" charset="0"/>
                <a:ea typeface="Instrument Sans Semi Bold" pitchFamily="34" charset="-122"/>
                <a:cs typeface="Instrument Sans Semi Bold" pitchFamily="34" charset="-120"/>
              </a:rPr>
              <a:t>Literature Review: Multimodal Emotion Fusion</a:t>
            </a:r>
            <a:endParaRPr lang="en-US" sz="4800" dirty="0"/>
          </a:p>
        </p:txBody>
      </p:sp>
      <p:sp>
        <p:nvSpPr>
          <p:cNvPr id="3" name="Text 1"/>
          <p:cNvSpPr/>
          <p:nvPr/>
        </p:nvSpPr>
        <p:spPr>
          <a:xfrm>
            <a:off x="396835" y="892969"/>
            <a:ext cx="13836729" cy="181451"/>
          </a:xfrm>
          <a:prstGeom prst="rect">
            <a:avLst/>
          </a:prstGeom>
          <a:noFill/>
          <a:ln/>
        </p:spPr>
        <p:txBody>
          <a:bodyPr wrap="none" lIns="0" tIns="0" rIns="0" bIns="0" rtlCol="0" anchor="t"/>
          <a:lstStyle/>
          <a:p>
            <a:pPr marL="0" indent="0" algn="l">
              <a:lnSpc>
                <a:spcPts val="140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Multimodal emotion recognition combines information from various sources (face, voice, text) to enhance accuracy.</a:t>
            </a:r>
            <a:endParaRPr lang="en-US" sz="2000" dirty="0"/>
          </a:p>
        </p:txBody>
      </p:sp>
      <p:pic>
        <p:nvPicPr>
          <p:cNvPr id="4" name="Image 0" descr="preencoded.png"/>
          <p:cNvPicPr>
            <a:picLocks noChangeAspect="1"/>
          </p:cNvPicPr>
          <p:nvPr/>
        </p:nvPicPr>
        <p:blipFill>
          <a:blip r:embed="rId3"/>
          <a:stretch>
            <a:fillRect/>
          </a:stretch>
        </p:blipFill>
        <p:spPr>
          <a:xfrm>
            <a:off x="3077029" y="1650361"/>
            <a:ext cx="9426914" cy="6579239"/>
          </a:xfrm>
          <a:prstGeom prst="rect">
            <a:avLst/>
          </a:prstGeom>
        </p:spPr>
      </p:pic>
      <p:sp>
        <p:nvSpPr>
          <p:cNvPr id="5" name="Text 2"/>
          <p:cNvSpPr/>
          <p:nvPr/>
        </p:nvSpPr>
        <p:spPr>
          <a:xfrm>
            <a:off x="6344905" y="2746955"/>
            <a:ext cx="3113243" cy="389156"/>
          </a:xfrm>
          <a:prstGeom prst="rect">
            <a:avLst/>
          </a:prstGeom>
          <a:noFill/>
          <a:ln/>
        </p:spPr>
        <p:txBody>
          <a:bodyPr wrap="none" lIns="0" tIns="0" rIns="0" bIns="0" rtlCol="0" anchor="t"/>
          <a:lstStyle/>
          <a:p>
            <a:pPr marL="0" indent="0" algn="ctr">
              <a:lnSpc>
                <a:spcPts val="2250"/>
              </a:lnSpc>
              <a:buNone/>
            </a:pPr>
            <a:r>
              <a:rPr lang="en-US" sz="2400" dirty="0">
                <a:solidFill>
                  <a:srgbClr val="000000"/>
                </a:solidFill>
                <a:latin typeface="Instrument Sans Semi Bold" pitchFamily="34" charset="0"/>
                <a:ea typeface="Instrument Sans Semi Bold" pitchFamily="34" charset="-122"/>
                <a:cs typeface="Instrument Sans Semi Bold" pitchFamily="34" charset="-120"/>
              </a:rPr>
              <a:t>Text Emotion</a:t>
            </a:r>
            <a:endParaRPr lang="en-US" sz="2400" dirty="0"/>
          </a:p>
        </p:txBody>
      </p:sp>
      <p:sp>
        <p:nvSpPr>
          <p:cNvPr id="6" name="Text 3"/>
          <p:cNvSpPr/>
          <p:nvPr/>
        </p:nvSpPr>
        <p:spPr>
          <a:xfrm>
            <a:off x="3391617" y="6470186"/>
            <a:ext cx="3113243" cy="389156"/>
          </a:xfrm>
          <a:prstGeom prst="rect">
            <a:avLst/>
          </a:prstGeom>
          <a:noFill/>
          <a:ln/>
        </p:spPr>
        <p:txBody>
          <a:bodyPr wrap="none" lIns="0" tIns="0" rIns="0" bIns="0" rtlCol="0" anchor="t"/>
          <a:lstStyle/>
          <a:p>
            <a:pPr marL="0" indent="0" algn="ctr">
              <a:lnSpc>
                <a:spcPts val="2250"/>
              </a:lnSpc>
              <a:buNone/>
            </a:pPr>
            <a:r>
              <a:rPr lang="en-US" sz="2400" dirty="0">
                <a:solidFill>
                  <a:srgbClr val="000000"/>
                </a:solidFill>
                <a:latin typeface="Instrument Sans Semi Bold" pitchFamily="34" charset="0"/>
                <a:ea typeface="Instrument Sans Semi Bold" pitchFamily="34" charset="-122"/>
                <a:cs typeface="Instrument Sans Semi Bold" pitchFamily="34" charset="-120"/>
              </a:rPr>
              <a:t>Facial Emotion</a:t>
            </a:r>
            <a:endParaRPr lang="en-US" sz="2400" dirty="0"/>
          </a:p>
        </p:txBody>
      </p:sp>
      <p:sp>
        <p:nvSpPr>
          <p:cNvPr id="7" name="Text 4"/>
          <p:cNvSpPr/>
          <p:nvPr/>
        </p:nvSpPr>
        <p:spPr>
          <a:xfrm>
            <a:off x="8941868" y="6470186"/>
            <a:ext cx="3113243" cy="389156"/>
          </a:xfrm>
          <a:prstGeom prst="rect">
            <a:avLst/>
          </a:prstGeom>
          <a:noFill/>
          <a:ln/>
        </p:spPr>
        <p:txBody>
          <a:bodyPr wrap="none" lIns="0" tIns="0" rIns="0" bIns="0" rtlCol="0" anchor="t"/>
          <a:lstStyle/>
          <a:p>
            <a:pPr marL="0" indent="0" algn="ctr">
              <a:lnSpc>
                <a:spcPts val="2250"/>
              </a:lnSpc>
              <a:buNone/>
            </a:pPr>
            <a:r>
              <a:rPr lang="en-US" sz="2400" dirty="0">
                <a:solidFill>
                  <a:srgbClr val="000000"/>
                </a:solidFill>
                <a:latin typeface="Instrument Sans Semi Bold" pitchFamily="34" charset="0"/>
                <a:ea typeface="Instrument Sans Semi Bold" pitchFamily="34" charset="-122"/>
                <a:cs typeface="Instrument Sans Semi Bold" pitchFamily="34" charset="-120"/>
              </a:rPr>
              <a:t>Speech Emotion</a:t>
            </a:r>
            <a:endParaRPr lang="en-US" sz="2400" dirty="0"/>
          </a:p>
        </p:txBody>
      </p:sp>
      <p:sp>
        <p:nvSpPr>
          <p:cNvPr id="8" name="Text 5"/>
          <p:cNvSpPr/>
          <p:nvPr/>
        </p:nvSpPr>
        <p:spPr>
          <a:xfrm>
            <a:off x="5092440" y="4350982"/>
            <a:ext cx="2080684" cy="389156"/>
          </a:xfrm>
          <a:prstGeom prst="rect">
            <a:avLst/>
          </a:prstGeom>
          <a:noFill/>
          <a:ln/>
        </p:spPr>
        <p:txBody>
          <a:bodyPr wrap="none" lIns="0" tIns="0" rIns="0" bIns="0" rtlCol="0" anchor="t"/>
          <a:lstStyle/>
          <a:p>
            <a:pPr marL="0" indent="0" algn="ctr">
              <a:lnSpc>
                <a:spcPts val="2250"/>
              </a:lnSpc>
              <a:buNone/>
            </a:pPr>
            <a:r>
              <a:rPr lang="en-US" sz="2400" dirty="0">
                <a:solidFill>
                  <a:srgbClr val="000000"/>
                </a:solidFill>
                <a:latin typeface="Instrument Sans Semi Bold" pitchFamily="34" charset="0"/>
                <a:ea typeface="Instrument Sans Semi Bold" pitchFamily="34" charset="-122"/>
                <a:cs typeface="Instrument Sans Semi Bold" pitchFamily="34" charset="-120"/>
              </a:rPr>
              <a:t>Text + Face</a:t>
            </a:r>
            <a:endParaRPr lang="en-US" sz="2400" dirty="0"/>
          </a:p>
        </p:txBody>
      </p:sp>
      <p:sp>
        <p:nvSpPr>
          <p:cNvPr id="9" name="Text 6"/>
          <p:cNvSpPr/>
          <p:nvPr/>
        </p:nvSpPr>
        <p:spPr>
          <a:xfrm>
            <a:off x="8417806" y="4350982"/>
            <a:ext cx="2080684" cy="389156"/>
          </a:xfrm>
          <a:prstGeom prst="rect">
            <a:avLst/>
          </a:prstGeom>
          <a:noFill/>
          <a:ln/>
        </p:spPr>
        <p:txBody>
          <a:bodyPr wrap="none" lIns="0" tIns="0" rIns="0" bIns="0" rtlCol="0" anchor="t"/>
          <a:lstStyle/>
          <a:p>
            <a:pPr marL="0" indent="0" algn="ctr">
              <a:lnSpc>
                <a:spcPts val="2250"/>
              </a:lnSpc>
              <a:buNone/>
            </a:pPr>
            <a:r>
              <a:rPr lang="en-US" sz="2400" dirty="0">
                <a:solidFill>
                  <a:srgbClr val="000000"/>
                </a:solidFill>
                <a:latin typeface="Instrument Sans Semi Bold" pitchFamily="34" charset="0"/>
                <a:ea typeface="Instrument Sans Semi Bold" pitchFamily="34" charset="-122"/>
                <a:cs typeface="Instrument Sans Semi Bold" pitchFamily="34" charset="-120"/>
              </a:rPr>
              <a:t>Text + Voice</a:t>
            </a:r>
            <a:endParaRPr lang="en-US" sz="2400" dirty="0"/>
          </a:p>
        </p:txBody>
      </p:sp>
      <p:sp>
        <p:nvSpPr>
          <p:cNvPr id="10" name="Text 7"/>
          <p:cNvSpPr/>
          <p:nvPr/>
        </p:nvSpPr>
        <p:spPr>
          <a:xfrm>
            <a:off x="7137037" y="6403399"/>
            <a:ext cx="1172654" cy="778311"/>
          </a:xfrm>
          <a:prstGeom prst="rect">
            <a:avLst/>
          </a:prstGeom>
          <a:noFill/>
          <a:ln/>
        </p:spPr>
        <p:txBody>
          <a:bodyPr wrap="square" lIns="0" tIns="0" rIns="0" bIns="0" rtlCol="0" anchor="t"/>
          <a:lstStyle/>
          <a:p>
            <a:pPr marL="0" indent="0" algn="ctr">
              <a:lnSpc>
                <a:spcPts val="2250"/>
              </a:lnSpc>
              <a:buNone/>
            </a:pPr>
            <a:r>
              <a:rPr lang="en-US" sz="2400" dirty="0">
                <a:solidFill>
                  <a:srgbClr val="000000"/>
                </a:solidFill>
                <a:latin typeface="Instrument Sans Semi Bold" pitchFamily="34" charset="0"/>
                <a:ea typeface="Instrument Sans Semi Bold" pitchFamily="34" charset="-122"/>
                <a:cs typeface="Instrument Sans Semi Bold" pitchFamily="34" charset="-120"/>
              </a:rPr>
              <a:t>Face + Voice</a:t>
            </a:r>
            <a:endParaRPr lang="en-US" sz="2400" dirty="0"/>
          </a:p>
        </p:txBody>
      </p:sp>
      <p:sp>
        <p:nvSpPr>
          <p:cNvPr id="11" name="Text 8"/>
          <p:cNvSpPr/>
          <p:nvPr/>
        </p:nvSpPr>
        <p:spPr>
          <a:xfrm>
            <a:off x="6953692" y="5182613"/>
            <a:ext cx="1673588" cy="778311"/>
          </a:xfrm>
          <a:prstGeom prst="rect">
            <a:avLst/>
          </a:prstGeom>
          <a:noFill/>
          <a:ln/>
        </p:spPr>
        <p:txBody>
          <a:bodyPr wrap="square" lIns="0" tIns="0" rIns="0" bIns="0" rtlCol="0" anchor="t"/>
          <a:lstStyle/>
          <a:p>
            <a:pPr marL="0" indent="0" algn="ctr">
              <a:lnSpc>
                <a:spcPts val="2250"/>
              </a:lnSpc>
              <a:buNone/>
            </a:pPr>
            <a:r>
              <a:rPr lang="en-US" sz="2400" dirty="0">
                <a:solidFill>
                  <a:srgbClr val="000000"/>
                </a:solidFill>
                <a:latin typeface="Instrument Sans Semi Bold" pitchFamily="34" charset="0"/>
                <a:ea typeface="Instrument Sans Semi Bold" pitchFamily="34" charset="-122"/>
                <a:cs typeface="Instrument Sans Semi Bold" pitchFamily="34" charset="-120"/>
              </a:rPr>
              <a:t>Multimodal Fusion</a:t>
            </a:r>
            <a:endParaRPr lang="en-US" sz="2400" dirty="0"/>
          </a:p>
        </p:txBody>
      </p:sp>
      <p:sp>
        <p:nvSpPr>
          <p:cNvPr id="12" name="Text 9"/>
          <p:cNvSpPr/>
          <p:nvPr/>
        </p:nvSpPr>
        <p:spPr>
          <a:xfrm>
            <a:off x="396835" y="11063526"/>
            <a:ext cx="13836729" cy="181451"/>
          </a:xfrm>
          <a:prstGeom prst="rect">
            <a:avLst/>
          </a:prstGeom>
          <a:noFill/>
          <a:ln/>
        </p:spPr>
        <p:txBody>
          <a:bodyPr wrap="none" lIns="0" tIns="0" rIns="0" bIns="0" rtlCol="0" anchor="t"/>
          <a:lstStyle/>
          <a:p>
            <a:pPr marL="0" indent="0" algn="l">
              <a:lnSpc>
                <a:spcPts val="140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Studies (Baltrusaitis et al., 2018) confirm that multimodal fusion consistently outperforms unimodal approaches. Decision-level, feature-level, and hybrid fusion strategies have been explored.</a:t>
            </a:r>
            <a:endParaRPr lang="en-US" sz="1400" dirty="0"/>
          </a:p>
        </p:txBody>
      </p:sp>
      <p:sp>
        <p:nvSpPr>
          <p:cNvPr id="13" name="Text 10"/>
          <p:cNvSpPr/>
          <p:nvPr/>
        </p:nvSpPr>
        <p:spPr>
          <a:xfrm>
            <a:off x="396835" y="11372493"/>
            <a:ext cx="13836729" cy="181451"/>
          </a:xfrm>
          <a:prstGeom prst="rect">
            <a:avLst/>
          </a:prstGeom>
          <a:noFill/>
          <a:ln/>
        </p:spPr>
        <p:txBody>
          <a:bodyPr wrap="none" lIns="0" tIns="0" rIns="0" bIns="0" rtlCol="0" anchor="t"/>
          <a:lstStyle/>
          <a:p>
            <a:pPr marL="0" indent="0" algn="l">
              <a:lnSpc>
                <a:spcPts val="140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Weighted fusion, where modalities contribute based on reliability, shows promising results for interview analysis.</a:t>
            </a:r>
            <a:endParaRPr lang="en-US" sz="1400" dirty="0"/>
          </a:p>
        </p:txBody>
      </p:sp>
      <p:pic>
        <p:nvPicPr>
          <p:cNvPr id="15" name="Picture 14">
            <a:extLst>
              <a:ext uri="{FF2B5EF4-FFF2-40B4-BE49-F238E27FC236}">
                <a16:creationId xmlns:a16="http://schemas.microsoft.com/office/drawing/2014/main" id="{C893BE4F-1EDC-F67E-29B1-F22E44F78994}"/>
              </a:ext>
            </a:extLst>
          </p:cNvPr>
          <p:cNvPicPr>
            <a:picLocks noChangeAspect="1"/>
          </p:cNvPicPr>
          <p:nvPr/>
        </p:nvPicPr>
        <p:blipFill>
          <a:blip r:embed="rId4"/>
          <a:stretch>
            <a:fillRect/>
          </a:stretch>
        </p:blipFill>
        <p:spPr>
          <a:xfrm>
            <a:off x="11636375" y="7610475"/>
            <a:ext cx="2943225" cy="6191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844590" y="911125"/>
            <a:ext cx="7556421" cy="2126337"/>
          </a:xfrm>
          <a:prstGeom prst="rect">
            <a:avLst/>
          </a:prstGeom>
          <a:noFill/>
          <a:ln/>
        </p:spPr>
        <p:txBody>
          <a:bodyPr wrap="square" lIns="0" tIns="0" rIns="0" bIns="0" rtlCol="0" anchor="t"/>
          <a:lstStyle/>
          <a:p>
            <a:pPr marL="0" indent="0" algn="l">
              <a:lnSpc>
                <a:spcPts val="5550"/>
              </a:lnSpc>
              <a:buNone/>
            </a:pPr>
            <a:r>
              <a:rPr lang="en-US" sz="4800" b="1" dirty="0">
                <a:solidFill>
                  <a:srgbClr val="333F70"/>
                </a:solidFill>
                <a:latin typeface="Unbounded Bold" pitchFamily="34" charset="0"/>
                <a:ea typeface="Unbounded Bold" pitchFamily="34" charset="-122"/>
                <a:cs typeface="Unbounded Bold" pitchFamily="34" charset="-120"/>
              </a:rPr>
              <a:t>System Architecture</a:t>
            </a:r>
            <a:endParaRPr lang="en-US" sz="4800" dirty="0"/>
          </a:p>
        </p:txBody>
      </p:sp>
      <p:sp>
        <p:nvSpPr>
          <p:cNvPr id="4" name="Text 1"/>
          <p:cNvSpPr/>
          <p:nvPr/>
        </p:nvSpPr>
        <p:spPr>
          <a:xfrm>
            <a:off x="844590" y="2815193"/>
            <a:ext cx="12992021" cy="1814513"/>
          </a:xfrm>
          <a:prstGeom prst="rect">
            <a:avLst/>
          </a:prstGeom>
          <a:noFill/>
          <a:ln/>
        </p:spPr>
        <p:txBody>
          <a:bodyPr wrap="square" lIns="0" tIns="0" rIns="0" bIns="0" rtlCol="0" anchor="t"/>
          <a:lstStyle/>
          <a:p>
            <a:pPr marL="0" indent="0" algn="just">
              <a:lnSpc>
                <a:spcPts val="2850"/>
              </a:lnSpc>
              <a:buNone/>
            </a:pPr>
            <a:r>
              <a:rPr lang="en-US" sz="2000" dirty="0">
                <a:solidFill>
                  <a:srgbClr val="333F70"/>
                </a:solidFill>
                <a:latin typeface="Open Sans" pitchFamily="34" charset="0"/>
                <a:ea typeface="Open Sans" pitchFamily="34" charset="-122"/>
                <a:cs typeface="Open Sans" pitchFamily="34" charset="-120"/>
              </a:rPr>
              <a:t>The AI Interview Analyzer uses a modular architecture, integrating a web interface with a Flask backend. This backend processes video and audio, feeding data into specialized AI modules for facial and speech emotion analysis, and multimodal fusion. The system culminates in a report generator, providing comprehensive JSON output.</a:t>
            </a:r>
            <a:endParaRPr lang="en-US" sz="2000" dirty="0"/>
          </a:p>
        </p:txBody>
      </p:sp>
      <p:pic>
        <p:nvPicPr>
          <p:cNvPr id="6" name="Picture 5">
            <a:extLst>
              <a:ext uri="{FF2B5EF4-FFF2-40B4-BE49-F238E27FC236}">
                <a16:creationId xmlns:a16="http://schemas.microsoft.com/office/drawing/2014/main" id="{0C64F1F1-9F4D-EA59-3BA1-5DD709123C50}"/>
              </a:ext>
            </a:extLst>
          </p:cNvPr>
          <p:cNvPicPr>
            <a:picLocks noChangeAspect="1"/>
          </p:cNvPicPr>
          <p:nvPr/>
        </p:nvPicPr>
        <p:blipFill>
          <a:blip r:embed="rId3"/>
          <a:stretch>
            <a:fillRect/>
          </a:stretch>
        </p:blipFill>
        <p:spPr>
          <a:xfrm>
            <a:off x="11583987" y="7610475"/>
            <a:ext cx="2943225" cy="6191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504593"/>
            <a:ext cx="11832312" cy="708779"/>
          </a:xfrm>
          <a:prstGeom prst="rect">
            <a:avLst/>
          </a:prstGeom>
          <a:noFill/>
          <a:ln/>
        </p:spPr>
        <p:txBody>
          <a:bodyPr wrap="none" lIns="0" tIns="0" rIns="0" bIns="0" rtlCol="0" anchor="t"/>
          <a:lstStyle/>
          <a:p>
            <a:pPr marL="0" indent="0" algn="l">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Facial Emotion Detection Pipeline</a:t>
            </a:r>
            <a:endParaRPr lang="en-US" sz="4450" dirty="0"/>
          </a:p>
        </p:txBody>
      </p:sp>
      <p:sp>
        <p:nvSpPr>
          <p:cNvPr id="3" name="Text 1"/>
          <p:cNvSpPr/>
          <p:nvPr/>
        </p:nvSpPr>
        <p:spPr>
          <a:xfrm>
            <a:off x="793790" y="2667000"/>
            <a:ext cx="226814" cy="283488"/>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Unbounded Light" pitchFamily="34" charset="0"/>
                <a:ea typeface="Unbounded Light" pitchFamily="34" charset="-122"/>
                <a:cs typeface="Unbounded Light" pitchFamily="34" charset="-120"/>
              </a:rPr>
              <a:t>01</a:t>
            </a:r>
            <a:endParaRPr lang="en-US" sz="2000" dirty="0"/>
          </a:p>
        </p:txBody>
      </p:sp>
      <p:sp>
        <p:nvSpPr>
          <p:cNvPr id="4" name="Shape 2"/>
          <p:cNvSpPr/>
          <p:nvPr/>
        </p:nvSpPr>
        <p:spPr>
          <a:xfrm>
            <a:off x="793790" y="3022044"/>
            <a:ext cx="4196358" cy="30480"/>
          </a:xfrm>
          <a:prstGeom prst="rect">
            <a:avLst/>
          </a:prstGeom>
          <a:solidFill>
            <a:srgbClr val="26A688"/>
          </a:solidFill>
          <a:ln/>
        </p:spPr>
      </p:sp>
      <p:sp>
        <p:nvSpPr>
          <p:cNvPr id="5" name="Text 3"/>
          <p:cNvSpPr/>
          <p:nvPr/>
        </p:nvSpPr>
        <p:spPr>
          <a:xfrm>
            <a:off x="793790" y="3196352"/>
            <a:ext cx="2835235" cy="354330"/>
          </a:xfrm>
          <a:prstGeom prst="rect">
            <a:avLst/>
          </a:prstGeom>
          <a:noFill/>
          <a:ln/>
        </p:spPr>
        <p:txBody>
          <a:bodyPr wrap="none" lIns="0" tIns="0" rIns="0" bIns="0" rtlCol="0" anchor="t"/>
          <a:lstStyle/>
          <a:p>
            <a:pPr marL="0" indent="0" algn="l">
              <a:lnSpc>
                <a:spcPts val="2750"/>
              </a:lnSpc>
              <a:buNone/>
            </a:pPr>
            <a:r>
              <a:rPr lang="en-US" sz="2800" b="1" dirty="0">
                <a:solidFill>
                  <a:srgbClr val="333F70"/>
                </a:solidFill>
                <a:latin typeface="Unbounded Bold" pitchFamily="34" charset="0"/>
                <a:ea typeface="Unbounded Bold" pitchFamily="34" charset="-122"/>
                <a:cs typeface="Unbounded Bold" pitchFamily="34" charset="-120"/>
              </a:rPr>
              <a:t>Video Capture</a:t>
            </a:r>
            <a:endParaRPr lang="en-US" sz="2800" dirty="0"/>
          </a:p>
        </p:txBody>
      </p:sp>
      <p:sp>
        <p:nvSpPr>
          <p:cNvPr id="6" name="Text 4"/>
          <p:cNvSpPr/>
          <p:nvPr/>
        </p:nvSpPr>
        <p:spPr>
          <a:xfrm>
            <a:off x="793790" y="3686770"/>
            <a:ext cx="4196358" cy="725805"/>
          </a:xfrm>
          <a:prstGeom prst="rect">
            <a:avLst/>
          </a:prstGeom>
          <a:noFill/>
          <a:ln/>
        </p:spPr>
        <p:txBody>
          <a:bodyPr wrap="squar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OpenCV captures webcam frames at 30 FPS.</a:t>
            </a:r>
            <a:endParaRPr lang="en-US" sz="2000" dirty="0"/>
          </a:p>
        </p:txBody>
      </p:sp>
      <p:sp>
        <p:nvSpPr>
          <p:cNvPr id="7" name="Text 5"/>
          <p:cNvSpPr/>
          <p:nvPr/>
        </p:nvSpPr>
        <p:spPr>
          <a:xfrm>
            <a:off x="5216962" y="2667000"/>
            <a:ext cx="226814" cy="283488"/>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Unbounded Light" pitchFamily="34" charset="0"/>
                <a:ea typeface="Unbounded Light" pitchFamily="34" charset="-122"/>
                <a:cs typeface="Unbounded Light" pitchFamily="34" charset="-120"/>
              </a:rPr>
              <a:t>02</a:t>
            </a:r>
            <a:endParaRPr lang="en-US" sz="2000" dirty="0"/>
          </a:p>
        </p:txBody>
      </p:sp>
      <p:sp>
        <p:nvSpPr>
          <p:cNvPr id="8" name="Shape 6"/>
          <p:cNvSpPr/>
          <p:nvPr/>
        </p:nvSpPr>
        <p:spPr>
          <a:xfrm>
            <a:off x="5216962" y="3022044"/>
            <a:ext cx="4196358" cy="30480"/>
          </a:xfrm>
          <a:prstGeom prst="rect">
            <a:avLst/>
          </a:prstGeom>
          <a:solidFill>
            <a:srgbClr val="26A688"/>
          </a:solidFill>
          <a:ln/>
        </p:spPr>
      </p:sp>
      <p:sp>
        <p:nvSpPr>
          <p:cNvPr id="9" name="Text 7"/>
          <p:cNvSpPr/>
          <p:nvPr/>
        </p:nvSpPr>
        <p:spPr>
          <a:xfrm>
            <a:off x="5216962" y="3196352"/>
            <a:ext cx="2835235" cy="354330"/>
          </a:xfrm>
          <a:prstGeom prst="rect">
            <a:avLst/>
          </a:prstGeom>
          <a:noFill/>
          <a:ln/>
        </p:spPr>
        <p:txBody>
          <a:bodyPr wrap="none" lIns="0" tIns="0" rIns="0" bIns="0" rtlCol="0" anchor="t"/>
          <a:lstStyle/>
          <a:p>
            <a:pPr marL="0" indent="0" algn="l">
              <a:lnSpc>
                <a:spcPts val="2750"/>
              </a:lnSpc>
              <a:buNone/>
            </a:pPr>
            <a:r>
              <a:rPr lang="en-US" sz="2800" b="1" dirty="0">
                <a:solidFill>
                  <a:srgbClr val="333F70"/>
                </a:solidFill>
                <a:latin typeface="Unbounded Bold" pitchFamily="34" charset="0"/>
                <a:ea typeface="Unbounded Bold" pitchFamily="34" charset="-122"/>
                <a:cs typeface="Unbounded Bold" pitchFamily="34" charset="-120"/>
              </a:rPr>
              <a:t>Face Detection</a:t>
            </a:r>
            <a:endParaRPr lang="en-US" sz="2800" dirty="0"/>
          </a:p>
        </p:txBody>
      </p:sp>
      <p:sp>
        <p:nvSpPr>
          <p:cNvPr id="10" name="Text 8"/>
          <p:cNvSpPr/>
          <p:nvPr/>
        </p:nvSpPr>
        <p:spPr>
          <a:xfrm>
            <a:off x="5216962" y="3686770"/>
            <a:ext cx="4196358" cy="725805"/>
          </a:xfrm>
          <a:prstGeom prst="rect">
            <a:avLst/>
          </a:prstGeom>
          <a:noFill/>
          <a:ln/>
        </p:spPr>
        <p:txBody>
          <a:bodyPr wrap="squar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MediaPipe (or Haar Cascade) detects face bounding boxes.</a:t>
            </a:r>
            <a:endParaRPr lang="en-US" sz="2000" dirty="0"/>
          </a:p>
        </p:txBody>
      </p:sp>
      <p:sp>
        <p:nvSpPr>
          <p:cNvPr id="11" name="Text 9"/>
          <p:cNvSpPr/>
          <p:nvPr/>
        </p:nvSpPr>
        <p:spPr>
          <a:xfrm>
            <a:off x="9640133" y="2667000"/>
            <a:ext cx="226814" cy="283488"/>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Unbounded Light" pitchFamily="34" charset="0"/>
                <a:ea typeface="Unbounded Light" pitchFamily="34" charset="-122"/>
                <a:cs typeface="Unbounded Light" pitchFamily="34" charset="-120"/>
              </a:rPr>
              <a:t>03</a:t>
            </a:r>
            <a:endParaRPr lang="en-US" sz="2000" dirty="0"/>
          </a:p>
        </p:txBody>
      </p:sp>
      <p:sp>
        <p:nvSpPr>
          <p:cNvPr id="12" name="Shape 10"/>
          <p:cNvSpPr/>
          <p:nvPr/>
        </p:nvSpPr>
        <p:spPr>
          <a:xfrm>
            <a:off x="9640133" y="3022044"/>
            <a:ext cx="4196358" cy="30480"/>
          </a:xfrm>
          <a:prstGeom prst="rect">
            <a:avLst/>
          </a:prstGeom>
          <a:solidFill>
            <a:srgbClr val="26A688"/>
          </a:solidFill>
          <a:ln/>
        </p:spPr>
      </p:sp>
      <p:sp>
        <p:nvSpPr>
          <p:cNvPr id="13" name="Text 11"/>
          <p:cNvSpPr/>
          <p:nvPr/>
        </p:nvSpPr>
        <p:spPr>
          <a:xfrm>
            <a:off x="9640133" y="3196352"/>
            <a:ext cx="2835235" cy="354330"/>
          </a:xfrm>
          <a:prstGeom prst="rect">
            <a:avLst/>
          </a:prstGeom>
          <a:noFill/>
          <a:ln/>
        </p:spPr>
        <p:txBody>
          <a:bodyPr wrap="none" lIns="0" tIns="0" rIns="0" bIns="0" rtlCol="0" anchor="t"/>
          <a:lstStyle/>
          <a:p>
            <a:pPr marL="0" indent="0" algn="l">
              <a:lnSpc>
                <a:spcPts val="2750"/>
              </a:lnSpc>
              <a:buNone/>
            </a:pPr>
            <a:r>
              <a:rPr lang="en-US" sz="2800" b="1" dirty="0">
                <a:solidFill>
                  <a:srgbClr val="333F70"/>
                </a:solidFill>
                <a:latin typeface="Unbounded Bold" pitchFamily="34" charset="0"/>
                <a:ea typeface="Unbounded Bold" pitchFamily="34" charset="-122"/>
                <a:cs typeface="Unbounded Bold" pitchFamily="34" charset="-120"/>
              </a:rPr>
              <a:t>Preprocessing</a:t>
            </a:r>
            <a:endParaRPr lang="en-US" sz="2800" dirty="0"/>
          </a:p>
        </p:txBody>
      </p:sp>
      <p:sp>
        <p:nvSpPr>
          <p:cNvPr id="14" name="Text 12"/>
          <p:cNvSpPr/>
          <p:nvPr/>
        </p:nvSpPr>
        <p:spPr>
          <a:xfrm>
            <a:off x="9640133" y="3686770"/>
            <a:ext cx="4196358" cy="725805"/>
          </a:xfrm>
          <a:prstGeom prst="rect">
            <a:avLst/>
          </a:prstGeom>
          <a:noFill/>
          <a:ln/>
        </p:spPr>
        <p:txBody>
          <a:bodyPr wrap="squar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Face region extracted, converted to grayscale, resized to 48x48 pixels.</a:t>
            </a:r>
            <a:endParaRPr lang="en-US" sz="2000" dirty="0"/>
          </a:p>
        </p:txBody>
      </p:sp>
      <p:sp>
        <p:nvSpPr>
          <p:cNvPr id="15" name="Text 13"/>
          <p:cNvSpPr/>
          <p:nvPr/>
        </p:nvSpPr>
        <p:spPr>
          <a:xfrm>
            <a:off x="793790" y="4809411"/>
            <a:ext cx="226814" cy="283488"/>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Unbounded Light" pitchFamily="34" charset="0"/>
                <a:ea typeface="Unbounded Light" pitchFamily="34" charset="-122"/>
                <a:cs typeface="Unbounded Light" pitchFamily="34" charset="-120"/>
              </a:rPr>
              <a:t>04</a:t>
            </a:r>
            <a:endParaRPr lang="en-US" sz="2000" dirty="0"/>
          </a:p>
        </p:txBody>
      </p:sp>
      <p:sp>
        <p:nvSpPr>
          <p:cNvPr id="16" name="Shape 14"/>
          <p:cNvSpPr/>
          <p:nvPr/>
        </p:nvSpPr>
        <p:spPr>
          <a:xfrm>
            <a:off x="793790" y="5164455"/>
            <a:ext cx="6407944" cy="30480"/>
          </a:xfrm>
          <a:prstGeom prst="rect">
            <a:avLst/>
          </a:prstGeom>
          <a:solidFill>
            <a:srgbClr val="26A688"/>
          </a:solidFill>
          <a:ln/>
        </p:spPr>
      </p:sp>
      <p:sp>
        <p:nvSpPr>
          <p:cNvPr id="17" name="Text 15"/>
          <p:cNvSpPr/>
          <p:nvPr/>
        </p:nvSpPr>
        <p:spPr>
          <a:xfrm>
            <a:off x="793790" y="5338763"/>
            <a:ext cx="3401616" cy="354330"/>
          </a:xfrm>
          <a:prstGeom prst="rect">
            <a:avLst/>
          </a:prstGeom>
          <a:noFill/>
          <a:ln/>
        </p:spPr>
        <p:txBody>
          <a:bodyPr wrap="none" lIns="0" tIns="0" rIns="0" bIns="0" rtlCol="0" anchor="t"/>
          <a:lstStyle/>
          <a:p>
            <a:pPr marL="0" indent="0" algn="l">
              <a:lnSpc>
                <a:spcPts val="2750"/>
              </a:lnSpc>
              <a:buNone/>
            </a:pPr>
            <a:r>
              <a:rPr lang="en-US" sz="2800" b="1" dirty="0">
                <a:solidFill>
                  <a:srgbClr val="333F70"/>
                </a:solidFill>
                <a:latin typeface="Unbounded Bold" pitchFamily="34" charset="0"/>
                <a:ea typeface="Unbounded Bold" pitchFamily="34" charset="-122"/>
                <a:cs typeface="Unbounded Bold" pitchFamily="34" charset="-120"/>
              </a:rPr>
              <a:t>Emotion Prediction</a:t>
            </a:r>
            <a:endParaRPr lang="en-US" sz="2800" dirty="0"/>
          </a:p>
        </p:txBody>
      </p:sp>
      <p:sp>
        <p:nvSpPr>
          <p:cNvPr id="18" name="Text 16"/>
          <p:cNvSpPr/>
          <p:nvPr/>
        </p:nvSpPr>
        <p:spPr>
          <a:xfrm>
            <a:off x="793790" y="5829181"/>
            <a:ext cx="6407944"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Pre-trained CNN classifies emotion with </a:t>
            </a:r>
            <a:br>
              <a:rPr lang="en-US" sz="2000" dirty="0">
                <a:solidFill>
                  <a:srgbClr val="333F70"/>
                </a:solidFill>
                <a:latin typeface="Open Sans" pitchFamily="34" charset="0"/>
                <a:ea typeface="Open Sans" pitchFamily="34" charset="-122"/>
                <a:cs typeface="Open Sans" pitchFamily="34" charset="-120"/>
              </a:rPr>
            </a:br>
            <a:r>
              <a:rPr lang="en-US" sz="2000" dirty="0">
                <a:solidFill>
                  <a:srgbClr val="333F70"/>
                </a:solidFill>
                <a:latin typeface="Open Sans" pitchFamily="34" charset="0"/>
                <a:ea typeface="Open Sans" pitchFamily="34" charset="-122"/>
                <a:cs typeface="Open Sans" pitchFamily="34" charset="-120"/>
              </a:rPr>
              <a:t>confidence scores.</a:t>
            </a:r>
            <a:endParaRPr lang="en-US" sz="2000" dirty="0"/>
          </a:p>
        </p:txBody>
      </p:sp>
      <p:sp>
        <p:nvSpPr>
          <p:cNvPr id="19" name="Text 17"/>
          <p:cNvSpPr/>
          <p:nvPr/>
        </p:nvSpPr>
        <p:spPr>
          <a:xfrm>
            <a:off x="7428548" y="4809411"/>
            <a:ext cx="226814" cy="283488"/>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Unbounded Light" pitchFamily="34" charset="0"/>
                <a:ea typeface="Unbounded Light" pitchFamily="34" charset="-122"/>
                <a:cs typeface="Unbounded Light" pitchFamily="34" charset="-120"/>
              </a:rPr>
              <a:t>05</a:t>
            </a:r>
            <a:endParaRPr lang="en-US" sz="2000" dirty="0"/>
          </a:p>
        </p:txBody>
      </p:sp>
      <p:sp>
        <p:nvSpPr>
          <p:cNvPr id="20" name="Shape 18"/>
          <p:cNvSpPr/>
          <p:nvPr/>
        </p:nvSpPr>
        <p:spPr>
          <a:xfrm>
            <a:off x="7428548" y="5164455"/>
            <a:ext cx="6407944" cy="30480"/>
          </a:xfrm>
          <a:prstGeom prst="rect">
            <a:avLst/>
          </a:prstGeom>
          <a:solidFill>
            <a:srgbClr val="26A688"/>
          </a:solidFill>
          <a:ln/>
        </p:spPr>
      </p:sp>
      <p:sp>
        <p:nvSpPr>
          <p:cNvPr id="21" name="Text 19"/>
          <p:cNvSpPr/>
          <p:nvPr/>
        </p:nvSpPr>
        <p:spPr>
          <a:xfrm>
            <a:off x="7428548" y="5338763"/>
            <a:ext cx="4556879" cy="354330"/>
          </a:xfrm>
          <a:prstGeom prst="rect">
            <a:avLst/>
          </a:prstGeom>
          <a:noFill/>
          <a:ln/>
        </p:spPr>
        <p:txBody>
          <a:bodyPr wrap="none" lIns="0" tIns="0" rIns="0" bIns="0" rtlCol="0" anchor="t"/>
          <a:lstStyle/>
          <a:p>
            <a:pPr marL="0" indent="0" algn="l">
              <a:lnSpc>
                <a:spcPts val="2750"/>
              </a:lnSpc>
              <a:buNone/>
            </a:pPr>
            <a:r>
              <a:rPr lang="en-US" sz="2800" b="1" dirty="0">
                <a:solidFill>
                  <a:srgbClr val="333F70"/>
                </a:solidFill>
                <a:latin typeface="Unbounded Bold" pitchFamily="34" charset="0"/>
                <a:ea typeface="Unbounded Bold" pitchFamily="34" charset="-122"/>
                <a:cs typeface="Unbounded Bold" pitchFamily="34" charset="-120"/>
              </a:rPr>
              <a:t>Smoothing &amp; Eye Contact</a:t>
            </a:r>
            <a:endParaRPr lang="en-US" sz="2800" dirty="0"/>
          </a:p>
        </p:txBody>
      </p:sp>
      <p:sp>
        <p:nvSpPr>
          <p:cNvPr id="22" name="Text 20"/>
          <p:cNvSpPr/>
          <p:nvPr/>
        </p:nvSpPr>
        <p:spPr>
          <a:xfrm>
            <a:off x="7428548" y="5829181"/>
            <a:ext cx="6407944" cy="725805"/>
          </a:xfrm>
          <a:prstGeom prst="rect">
            <a:avLst/>
          </a:prstGeom>
          <a:noFill/>
          <a:ln/>
        </p:spPr>
        <p:txBody>
          <a:bodyPr wrap="squar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Sliding window smooths predictions; eye contact estimated from face position.</a:t>
            </a:r>
            <a:endParaRPr lang="en-US" sz="2000" dirty="0"/>
          </a:p>
        </p:txBody>
      </p:sp>
      <p:pic>
        <p:nvPicPr>
          <p:cNvPr id="24" name="Picture 23">
            <a:extLst>
              <a:ext uri="{FF2B5EF4-FFF2-40B4-BE49-F238E27FC236}">
                <a16:creationId xmlns:a16="http://schemas.microsoft.com/office/drawing/2014/main" id="{D63358C3-B978-C2AC-14B5-61D412A5CD4B}"/>
              </a:ext>
            </a:extLst>
          </p:cNvPr>
          <p:cNvPicPr>
            <a:picLocks noChangeAspect="1"/>
          </p:cNvPicPr>
          <p:nvPr/>
        </p:nvPicPr>
        <p:blipFill>
          <a:blip r:embed="rId3"/>
          <a:stretch>
            <a:fillRect/>
          </a:stretch>
        </p:blipFill>
        <p:spPr>
          <a:xfrm>
            <a:off x="11687175" y="7610475"/>
            <a:ext cx="2943225" cy="6191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03540" y="584121"/>
            <a:ext cx="11578828" cy="628174"/>
          </a:xfrm>
          <a:prstGeom prst="rect">
            <a:avLst/>
          </a:prstGeom>
          <a:noFill/>
          <a:ln/>
        </p:spPr>
        <p:txBody>
          <a:bodyPr wrap="none" lIns="0" tIns="0" rIns="0" bIns="0" rtlCol="0" anchor="t"/>
          <a:lstStyle/>
          <a:p>
            <a:pPr marL="0" indent="0" algn="l">
              <a:lnSpc>
                <a:spcPts val="4900"/>
              </a:lnSpc>
              <a:buNone/>
            </a:pPr>
            <a:r>
              <a:rPr lang="en-US" sz="4800" b="1" dirty="0">
                <a:solidFill>
                  <a:srgbClr val="333F70"/>
                </a:solidFill>
                <a:latin typeface="Unbounded Bold" pitchFamily="34" charset="0"/>
                <a:ea typeface="Unbounded Bold" pitchFamily="34" charset="-122"/>
                <a:cs typeface="Unbounded Bold" pitchFamily="34" charset="-120"/>
              </a:rPr>
              <a:t>Speech Emotion Recognition Pipeline</a:t>
            </a:r>
            <a:endParaRPr lang="en-US" sz="4800" dirty="0"/>
          </a:p>
        </p:txBody>
      </p:sp>
      <p:pic>
        <p:nvPicPr>
          <p:cNvPr id="3" name="Image 0" descr="preencoded.png"/>
          <p:cNvPicPr>
            <a:picLocks noChangeAspect="1"/>
          </p:cNvPicPr>
          <p:nvPr/>
        </p:nvPicPr>
        <p:blipFill>
          <a:blip r:embed="rId3"/>
          <a:stretch>
            <a:fillRect/>
          </a:stretch>
        </p:blipFill>
        <p:spPr>
          <a:xfrm>
            <a:off x="703540" y="1614368"/>
            <a:ext cx="1005126" cy="1206222"/>
          </a:xfrm>
          <a:prstGeom prst="rect">
            <a:avLst/>
          </a:prstGeom>
        </p:spPr>
      </p:pic>
      <p:sp>
        <p:nvSpPr>
          <p:cNvPr id="4" name="Text 1"/>
          <p:cNvSpPr/>
          <p:nvPr/>
        </p:nvSpPr>
        <p:spPr>
          <a:xfrm>
            <a:off x="1909643" y="1815346"/>
            <a:ext cx="2512933" cy="314087"/>
          </a:xfrm>
          <a:prstGeom prst="rect">
            <a:avLst/>
          </a:prstGeom>
          <a:noFill/>
          <a:ln/>
        </p:spPr>
        <p:txBody>
          <a:bodyPr wrap="none" lIns="0" tIns="0" rIns="0" bIns="0" rtlCol="0" anchor="t"/>
          <a:lstStyle/>
          <a:p>
            <a:pPr marL="0" indent="0" algn="l">
              <a:lnSpc>
                <a:spcPts val="2450"/>
              </a:lnSpc>
              <a:buNone/>
            </a:pPr>
            <a:r>
              <a:rPr lang="en-US" sz="2800" b="1" dirty="0">
                <a:solidFill>
                  <a:srgbClr val="333F70"/>
                </a:solidFill>
                <a:latin typeface="Unbounded Bold" pitchFamily="34" charset="0"/>
                <a:ea typeface="Unbounded Bold" pitchFamily="34" charset="-122"/>
                <a:cs typeface="Unbounded Bold" pitchFamily="34" charset="-120"/>
              </a:rPr>
              <a:t>Audio Capture</a:t>
            </a:r>
            <a:endParaRPr lang="en-US" sz="2800" dirty="0"/>
          </a:p>
        </p:txBody>
      </p:sp>
      <p:sp>
        <p:nvSpPr>
          <p:cNvPr id="5" name="Text 2"/>
          <p:cNvSpPr/>
          <p:nvPr/>
        </p:nvSpPr>
        <p:spPr>
          <a:xfrm>
            <a:off x="1909643" y="2250043"/>
            <a:ext cx="12017216" cy="321707"/>
          </a:xfrm>
          <a:prstGeom prst="rect">
            <a:avLst/>
          </a:prstGeom>
          <a:noFill/>
          <a:ln/>
        </p:spPr>
        <p:txBody>
          <a:bodyPr wrap="none" lIns="0" tIns="0" rIns="0" bIns="0" rtlCol="0" anchor="t"/>
          <a:lstStyle/>
          <a:p>
            <a:pPr marL="0" indent="0" algn="l">
              <a:lnSpc>
                <a:spcPts val="2500"/>
              </a:lnSpc>
              <a:buNone/>
            </a:pPr>
            <a:r>
              <a:rPr lang="en-US" sz="2000" dirty="0">
                <a:solidFill>
                  <a:srgbClr val="333F70"/>
                </a:solidFill>
                <a:latin typeface="Open Sans" pitchFamily="34" charset="0"/>
                <a:ea typeface="Open Sans" pitchFamily="34" charset="-122"/>
                <a:cs typeface="Open Sans" pitchFamily="34" charset="-120"/>
              </a:rPr>
              <a:t>Sounddevice captures audio at 16kHz sample rate.</a:t>
            </a:r>
            <a:endParaRPr lang="en-US" sz="2000" dirty="0"/>
          </a:p>
        </p:txBody>
      </p:sp>
      <p:pic>
        <p:nvPicPr>
          <p:cNvPr id="6" name="Image 1" descr="preencoded.png"/>
          <p:cNvPicPr>
            <a:picLocks noChangeAspect="1"/>
          </p:cNvPicPr>
          <p:nvPr/>
        </p:nvPicPr>
        <p:blipFill>
          <a:blip r:embed="rId4"/>
          <a:stretch>
            <a:fillRect/>
          </a:stretch>
        </p:blipFill>
        <p:spPr>
          <a:xfrm>
            <a:off x="703540" y="2820591"/>
            <a:ext cx="1005126" cy="1206222"/>
          </a:xfrm>
          <a:prstGeom prst="rect">
            <a:avLst/>
          </a:prstGeom>
        </p:spPr>
      </p:pic>
      <p:sp>
        <p:nvSpPr>
          <p:cNvPr id="7" name="Text 3"/>
          <p:cNvSpPr/>
          <p:nvPr/>
        </p:nvSpPr>
        <p:spPr>
          <a:xfrm>
            <a:off x="1909643" y="3021568"/>
            <a:ext cx="2512933" cy="314087"/>
          </a:xfrm>
          <a:prstGeom prst="rect">
            <a:avLst/>
          </a:prstGeom>
          <a:noFill/>
          <a:ln/>
        </p:spPr>
        <p:txBody>
          <a:bodyPr wrap="none" lIns="0" tIns="0" rIns="0" bIns="0" rtlCol="0" anchor="t"/>
          <a:lstStyle/>
          <a:p>
            <a:pPr marL="0" indent="0" algn="l">
              <a:lnSpc>
                <a:spcPts val="2450"/>
              </a:lnSpc>
              <a:buNone/>
            </a:pPr>
            <a:r>
              <a:rPr lang="en-US" sz="2800" b="1" dirty="0">
                <a:solidFill>
                  <a:srgbClr val="333F70"/>
                </a:solidFill>
                <a:latin typeface="Unbounded Bold" pitchFamily="34" charset="0"/>
                <a:ea typeface="Unbounded Bold" pitchFamily="34" charset="-122"/>
                <a:cs typeface="Unbounded Bold" pitchFamily="34" charset="-120"/>
              </a:rPr>
              <a:t>Preprocessing</a:t>
            </a:r>
            <a:endParaRPr lang="en-US" sz="2800" dirty="0"/>
          </a:p>
        </p:txBody>
      </p:sp>
      <p:sp>
        <p:nvSpPr>
          <p:cNvPr id="8" name="Text 4"/>
          <p:cNvSpPr/>
          <p:nvPr/>
        </p:nvSpPr>
        <p:spPr>
          <a:xfrm>
            <a:off x="1909643" y="3456265"/>
            <a:ext cx="12017216" cy="321707"/>
          </a:xfrm>
          <a:prstGeom prst="rect">
            <a:avLst/>
          </a:prstGeom>
          <a:noFill/>
          <a:ln/>
        </p:spPr>
        <p:txBody>
          <a:bodyPr wrap="none" lIns="0" tIns="0" rIns="0" bIns="0" rtlCol="0" anchor="t"/>
          <a:lstStyle/>
          <a:p>
            <a:pPr marL="0" indent="0" algn="l">
              <a:lnSpc>
                <a:spcPts val="2500"/>
              </a:lnSpc>
              <a:buNone/>
            </a:pPr>
            <a:r>
              <a:rPr lang="en-US" sz="2000" dirty="0">
                <a:solidFill>
                  <a:srgbClr val="333F70"/>
                </a:solidFill>
                <a:latin typeface="Open Sans" pitchFamily="34" charset="0"/>
                <a:ea typeface="Open Sans" pitchFamily="34" charset="-122"/>
                <a:cs typeface="Open Sans" pitchFamily="34" charset="-120"/>
              </a:rPr>
              <a:t>Audio is normalized and converted to mono channel.</a:t>
            </a:r>
            <a:endParaRPr lang="en-US" sz="2000" dirty="0"/>
          </a:p>
        </p:txBody>
      </p:sp>
      <p:pic>
        <p:nvPicPr>
          <p:cNvPr id="9" name="Image 2" descr="preencoded.png"/>
          <p:cNvPicPr>
            <a:picLocks noChangeAspect="1"/>
          </p:cNvPicPr>
          <p:nvPr/>
        </p:nvPicPr>
        <p:blipFill>
          <a:blip r:embed="rId5"/>
          <a:stretch>
            <a:fillRect/>
          </a:stretch>
        </p:blipFill>
        <p:spPr>
          <a:xfrm>
            <a:off x="703540" y="4026813"/>
            <a:ext cx="1005126" cy="1206222"/>
          </a:xfrm>
          <a:prstGeom prst="rect">
            <a:avLst/>
          </a:prstGeom>
        </p:spPr>
      </p:pic>
      <p:sp>
        <p:nvSpPr>
          <p:cNvPr id="10" name="Text 5"/>
          <p:cNvSpPr/>
          <p:nvPr/>
        </p:nvSpPr>
        <p:spPr>
          <a:xfrm>
            <a:off x="1909643" y="4227790"/>
            <a:ext cx="2997637" cy="314087"/>
          </a:xfrm>
          <a:prstGeom prst="rect">
            <a:avLst/>
          </a:prstGeom>
          <a:noFill/>
          <a:ln/>
        </p:spPr>
        <p:txBody>
          <a:bodyPr wrap="none" lIns="0" tIns="0" rIns="0" bIns="0" rtlCol="0" anchor="t"/>
          <a:lstStyle/>
          <a:p>
            <a:pPr marL="0" indent="0" algn="l">
              <a:lnSpc>
                <a:spcPts val="2450"/>
              </a:lnSpc>
              <a:buNone/>
            </a:pPr>
            <a:r>
              <a:rPr lang="en-US" sz="2800" b="1" dirty="0">
                <a:solidFill>
                  <a:srgbClr val="333F70"/>
                </a:solidFill>
                <a:latin typeface="Unbounded Bold" pitchFamily="34" charset="0"/>
                <a:ea typeface="Unbounded Bold" pitchFamily="34" charset="-122"/>
                <a:cs typeface="Unbounded Bold" pitchFamily="34" charset="-120"/>
              </a:rPr>
              <a:t>Feature Extraction</a:t>
            </a:r>
            <a:endParaRPr lang="en-US" sz="2800" dirty="0"/>
          </a:p>
        </p:txBody>
      </p:sp>
      <p:sp>
        <p:nvSpPr>
          <p:cNvPr id="11" name="Text 6"/>
          <p:cNvSpPr/>
          <p:nvPr/>
        </p:nvSpPr>
        <p:spPr>
          <a:xfrm>
            <a:off x="1909643" y="4662488"/>
            <a:ext cx="12017216" cy="321707"/>
          </a:xfrm>
          <a:prstGeom prst="rect">
            <a:avLst/>
          </a:prstGeom>
          <a:noFill/>
          <a:ln/>
        </p:spPr>
        <p:txBody>
          <a:bodyPr wrap="none" lIns="0" tIns="0" rIns="0" bIns="0" rtlCol="0" anchor="t"/>
          <a:lstStyle/>
          <a:p>
            <a:pPr marL="0" indent="0" algn="l">
              <a:lnSpc>
                <a:spcPts val="2500"/>
              </a:lnSpc>
              <a:buNone/>
            </a:pPr>
            <a:r>
              <a:rPr lang="en-US" sz="2000" dirty="0">
                <a:solidFill>
                  <a:srgbClr val="333F70"/>
                </a:solidFill>
                <a:latin typeface="Open Sans" pitchFamily="34" charset="0"/>
                <a:ea typeface="Open Sans" pitchFamily="34" charset="-122"/>
                <a:cs typeface="Open Sans" pitchFamily="34" charset="-120"/>
              </a:rPr>
              <a:t>Wav2Vec2 extracts learned speech representations.</a:t>
            </a:r>
            <a:endParaRPr lang="en-US" sz="2000" dirty="0"/>
          </a:p>
        </p:txBody>
      </p:sp>
      <p:pic>
        <p:nvPicPr>
          <p:cNvPr id="12" name="Image 3" descr="preencoded.png"/>
          <p:cNvPicPr>
            <a:picLocks noChangeAspect="1"/>
          </p:cNvPicPr>
          <p:nvPr/>
        </p:nvPicPr>
        <p:blipFill>
          <a:blip r:embed="rId6"/>
          <a:stretch>
            <a:fillRect/>
          </a:stretch>
        </p:blipFill>
        <p:spPr>
          <a:xfrm>
            <a:off x="703540" y="5233035"/>
            <a:ext cx="1005126" cy="1206222"/>
          </a:xfrm>
          <a:prstGeom prst="rect">
            <a:avLst/>
          </a:prstGeom>
        </p:spPr>
      </p:pic>
      <p:sp>
        <p:nvSpPr>
          <p:cNvPr id="13" name="Text 7"/>
          <p:cNvSpPr/>
          <p:nvPr/>
        </p:nvSpPr>
        <p:spPr>
          <a:xfrm>
            <a:off x="1909643" y="5434013"/>
            <a:ext cx="3617119" cy="314087"/>
          </a:xfrm>
          <a:prstGeom prst="rect">
            <a:avLst/>
          </a:prstGeom>
          <a:noFill/>
          <a:ln/>
        </p:spPr>
        <p:txBody>
          <a:bodyPr wrap="none" lIns="0" tIns="0" rIns="0" bIns="0" rtlCol="0" anchor="t"/>
          <a:lstStyle/>
          <a:p>
            <a:pPr marL="0" indent="0" algn="l">
              <a:lnSpc>
                <a:spcPts val="2450"/>
              </a:lnSpc>
              <a:buNone/>
            </a:pPr>
            <a:r>
              <a:rPr lang="en-US" sz="2800" b="1" dirty="0">
                <a:solidFill>
                  <a:srgbClr val="333F70"/>
                </a:solidFill>
                <a:latin typeface="Unbounded Bold" pitchFamily="34" charset="0"/>
                <a:ea typeface="Unbounded Bold" pitchFamily="34" charset="-122"/>
                <a:cs typeface="Unbounded Bold" pitchFamily="34" charset="-120"/>
              </a:rPr>
              <a:t>Emotion Classification</a:t>
            </a:r>
            <a:endParaRPr lang="en-US" sz="2800" dirty="0"/>
          </a:p>
        </p:txBody>
      </p:sp>
      <p:sp>
        <p:nvSpPr>
          <p:cNvPr id="14" name="Text 8"/>
          <p:cNvSpPr/>
          <p:nvPr/>
        </p:nvSpPr>
        <p:spPr>
          <a:xfrm>
            <a:off x="1909643" y="5868710"/>
            <a:ext cx="12017216" cy="321707"/>
          </a:xfrm>
          <a:prstGeom prst="rect">
            <a:avLst/>
          </a:prstGeom>
          <a:noFill/>
          <a:ln/>
        </p:spPr>
        <p:txBody>
          <a:bodyPr wrap="none" lIns="0" tIns="0" rIns="0" bIns="0" rtlCol="0" anchor="t"/>
          <a:lstStyle/>
          <a:p>
            <a:pPr marL="0" indent="0" algn="l">
              <a:lnSpc>
                <a:spcPts val="2500"/>
              </a:lnSpc>
              <a:buNone/>
            </a:pPr>
            <a:r>
              <a:rPr lang="en-US" sz="2000" dirty="0">
                <a:solidFill>
                  <a:srgbClr val="333F70"/>
                </a:solidFill>
                <a:latin typeface="Open Sans" pitchFamily="34" charset="0"/>
                <a:ea typeface="Open Sans" pitchFamily="34" charset="-122"/>
                <a:cs typeface="Open Sans" pitchFamily="34" charset="-120"/>
              </a:rPr>
              <a:t>Pre-trained model outputs emotion probabilities.</a:t>
            </a:r>
            <a:endParaRPr lang="en-US" sz="2000" dirty="0"/>
          </a:p>
        </p:txBody>
      </p:sp>
      <p:pic>
        <p:nvPicPr>
          <p:cNvPr id="15" name="Image 4" descr="preencoded.png"/>
          <p:cNvPicPr>
            <a:picLocks noChangeAspect="1"/>
          </p:cNvPicPr>
          <p:nvPr/>
        </p:nvPicPr>
        <p:blipFill>
          <a:blip r:embed="rId7"/>
          <a:stretch>
            <a:fillRect/>
          </a:stretch>
        </p:blipFill>
        <p:spPr>
          <a:xfrm>
            <a:off x="703540" y="6439257"/>
            <a:ext cx="1005126" cy="1206222"/>
          </a:xfrm>
          <a:prstGeom prst="rect">
            <a:avLst/>
          </a:prstGeom>
        </p:spPr>
      </p:pic>
      <p:sp>
        <p:nvSpPr>
          <p:cNvPr id="16" name="Text 9"/>
          <p:cNvSpPr/>
          <p:nvPr/>
        </p:nvSpPr>
        <p:spPr>
          <a:xfrm>
            <a:off x="1909643" y="6640235"/>
            <a:ext cx="2622352" cy="314087"/>
          </a:xfrm>
          <a:prstGeom prst="rect">
            <a:avLst/>
          </a:prstGeom>
          <a:noFill/>
          <a:ln/>
        </p:spPr>
        <p:txBody>
          <a:bodyPr wrap="none" lIns="0" tIns="0" rIns="0" bIns="0" rtlCol="0" anchor="t"/>
          <a:lstStyle/>
          <a:p>
            <a:pPr marL="0" indent="0" algn="l">
              <a:lnSpc>
                <a:spcPts val="2450"/>
              </a:lnSpc>
              <a:buNone/>
            </a:pPr>
            <a:r>
              <a:rPr lang="en-US" sz="2800" b="1" dirty="0">
                <a:solidFill>
                  <a:srgbClr val="333F70"/>
                </a:solidFill>
                <a:latin typeface="Unbounded Bold" pitchFamily="34" charset="0"/>
                <a:ea typeface="Unbounded Bold" pitchFamily="34" charset="-122"/>
                <a:cs typeface="Unbounded Bold" pitchFamily="34" charset="-120"/>
              </a:rPr>
              <a:t>History Tracking</a:t>
            </a:r>
            <a:endParaRPr lang="en-US" sz="2800" dirty="0"/>
          </a:p>
        </p:txBody>
      </p:sp>
      <p:sp>
        <p:nvSpPr>
          <p:cNvPr id="17" name="Text 10"/>
          <p:cNvSpPr/>
          <p:nvPr/>
        </p:nvSpPr>
        <p:spPr>
          <a:xfrm>
            <a:off x="1909643" y="7074932"/>
            <a:ext cx="12017216" cy="321707"/>
          </a:xfrm>
          <a:prstGeom prst="rect">
            <a:avLst/>
          </a:prstGeom>
          <a:noFill/>
          <a:ln/>
        </p:spPr>
        <p:txBody>
          <a:bodyPr wrap="none" lIns="0" tIns="0" rIns="0" bIns="0" rtlCol="0" anchor="t"/>
          <a:lstStyle/>
          <a:p>
            <a:pPr marL="0" indent="0" algn="l">
              <a:lnSpc>
                <a:spcPts val="2500"/>
              </a:lnSpc>
              <a:buNone/>
            </a:pPr>
            <a:r>
              <a:rPr lang="en-US" sz="2000" dirty="0">
                <a:solidFill>
                  <a:srgbClr val="333F70"/>
                </a:solidFill>
                <a:latin typeface="Open Sans" pitchFamily="34" charset="0"/>
                <a:ea typeface="Open Sans" pitchFamily="34" charset="-122"/>
                <a:cs typeface="Open Sans" pitchFamily="34" charset="-120"/>
              </a:rPr>
              <a:t>Predictions stored for session-wide analysis.</a:t>
            </a:r>
            <a:endParaRPr lang="en-US" sz="2000" dirty="0"/>
          </a:p>
        </p:txBody>
      </p:sp>
      <p:pic>
        <p:nvPicPr>
          <p:cNvPr id="19" name="Picture 18">
            <a:extLst>
              <a:ext uri="{FF2B5EF4-FFF2-40B4-BE49-F238E27FC236}">
                <a16:creationId xmlns:a16="http://schemas.microsoft.com/office/drawing/2014/main" id="{2EE7440E-EA65-445D-A435-095F65472425}"/>
              </a:ext>
            </a:extLst>
          </p:cNvPr>
          <p:cNvPicPr>
            <a:picLocks noChangeAspect="1"/>
          </p:cNvPicPr>
          <p:nvPr/>
        </p:nvPicPr>
        <p:blipFill>
          <a:blip r:embed="rId8"/>
          <a:stretch>
            <a:fillRect/>
          </a:stretch>
        </p:blipFill>
        <p:spPr>
          <a:xfrm>
            <a:off x="11687175" y="7517249"/>
            <a:ext cx="2943225" cy="6191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736288"/>
            <a:ext cx="10311646" cy="708779"/>
          </a:xfrm>
          <a:prstGeom prst="rect">
            <a:avLst/>
          </a:prstGeom>
          <a:noFill/>
          <a:ln/>
        </p:spPr>
        <p:txBody>
          <a:bodyPr wrap="none" lIns="0" tIns="0" rIns="0" bIns="0" rtlCol="0" anchor="t"/>
          <a:lstStyle/>
          <a:p>
            <a:pPr marL="0" indent="0" algn="l">
              <a:lnSpc>
                <a:spcPts val="5550"/>
              </a:lnSpc>
              <a:buNone/>
            </a:pPr>
            <a:r>
              <a:rPr lang="en-US" sz="5400" b="1" dirty="0">
                <a:solidFill>
                  <a:srgbClr val="333F70"/>
                </a:solidFill>
                <a:latin typeface="Unbounded Bold" pitchFamily="34" charset="0"/>
                <a:ea typeface="Unbounded Bold" pitchFamily="34" charset="-122"/>
                <a:cs typeface="Unbounded Bold" pitchFamily="34" charset="-120"/>
              </a:rPr>
              <a:t>Multimodal Fusion Algorithm</a:t>
            </a:r>
            <a:endParaRPr lang="en-US" sz="5400" dirty="0"/>
          </a:p>
        </p:txBody>
      </p:sp>
      <p:sp>
        <p:nvSpPr>
          <p:cNvPr id="3" name="Text 1"/>
          <p:cNvSpPr/>
          <p:nvPr/>
        </p:nvSpPr>
        <p:spPr>
          <a:xfrm>
            <a:off x="793790" y="3012043"/>
            <a:ext cx="3170634" cy="354330"/>
          </a:xfrm>
          <a:prstGeom prst="rect">
            <a:avLst/>
          </a:prstGeom>
          <a:noFill/>
          <a:ln/>
        </p:spPr>
        <p:txBody>
          <a:bodyPr wrap="none" lIns="0" tIns="0" rIns="0" bIns="0" rtlCol="0" anchor="t"/>
          <a:lstStyle/>
          <a:p>
            <a:pPr marL="0" indent="0" algn="l">
              <a:lnSpc>
                <a:spcPts val="2750"/>
              </a:lnSpc>
              <a:buNone/>
            </a:pPr>
            <a:r>
              <a:rPr lang="en-US" sz="2800" b="1" dirty="0">
                <a:solidFill>
                  <a:srgbClr val="333F70"/>
                </a:solidFill>
                <a:latin typeface="Unbounded Bold" pitchFamily="34" charset="0"/>
                <a:ea typeface="Unbounded Bold" pitchFamily="34" charset="-122"/>
                <a:cs typeface="Unbounded Bold" pitchFamily="34" charset="-120"/>
              </a:rPr>
              <a:t>Weighted Scoring</a:t>
            </a:r>
            <a:endParaRPr lang="en-US" sz="2800" dirty="0"/>
          </a:p>
        </p:txBody>
      </p:sp>
      <p:sp>
        <p:nvSpPr>
          <p:cNvPr id="4" name="Shape 2"/>
          <p:cNvSpPr/>
          <p:nvPr/>
        </p:nvSpPr>
        <p:spPr>
          <a:xfrm>
            <a:off x="793790" y="3621524"/>
            <a:ext cx="6244709" cy="2616518"/>
          </a:xfrm>
          <a:prstGeom prst="roundRect">
            <a:avLst>
              <a:gd name="adj" fmla="val 3641"/>
            </a:avLst>
          </a:prstGeom>
          <a:noFill/>
          <a:ln w="7620">
            <a:solidFill>
              <a:srgbClr val="000000">
                <a:alpha val="8000"/>
              </a:srgbClr>
            </a:solidFill>
            <a:prstDash val="solid"/>
          </a:ln>
        </p:spPr>
      </p:sp>
      <p:sp>
        <p:nvSpPr>
          <p:cNvPr id="5" name="Shape 3"/>
          <p:cNvSpPr/>
          <p:nvPr/>
        </p:nvSpPr>
        <p:spPr>
          <a:xfrm>
            <a:off x="801410" y="3629144"/>
            <a:ext cx="6229469" cy="650319"/>
          </a:xfrm>
          <a:prstGeom prst="rect">
            <a:avLst/>
          </a:prstGeom>
          <a:solidFill>
            <a:srgbClr val="FFFFFF">
              <a:alpha val="4000"/>
            </a:srgbClr>
          </a:solidFill>
          <a:ln/>
        </p:spPr>
      </p:sp>
      <p:sp>
        <p:nvSpPr>
          <p:cNvPr id="6" name="Text 4"/>
          <p:cNvSpPr/>
          <p:nvPr/>
        </p:nvSpPr>
        <p:spPr>
          <a:xfrm>
            <a:off x="1028343" y="3772852"/>
            <a:ext cx="2657237"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Facial Emotion</a:t>
            </a:r>
            <a:endParaRPr lang="en-US" sz="2000" dirty="0"/>
          </a:p>
        </p:txBody>
      </p:sp>
      <p:sp>
        <p:nvSpPr>
          <p:cNvPr id="7" name="Text 5"/>
          <p:cNvSpPr/>
          <p:nvPr/>
        </p:nvSpPr>
        <p:spPr>
          <a:xfrm>
            <a:off x="4146828" y="3772852"/>
            <a:ext cx="2657237"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40%</a:t>
            </a:r>
            <a:endParaRPr lang="en-US" sz="2000" dirty="0"/>
          </a:p>
        </p:txBody>
      </p:sp>
      <p:sp>
        <p:nvSpPr>
          <p:cNvPr id="8" name="Shape 6"/>
          <p:cNvSpPr/>
          <p:nvPr/>
        </p:nvSpPr>
        <p:spPr>
          <a:xfrm>
            <a:off x="801410" y="4279463"/>
            <a:ext cx="6229469" cy="650319"/>
          </a:xfrm>
          <a:prstGeom prst="rect">
            <a:avLst/>
          </a:prstGeom>
          <a:solidFill>
            <a:srgbClr val="000000">
              <a:alpha val="4000"/>
            </a:srgbClr>
          </a:solidFill>
          <a:ln/>
        </p:spPr>
      </p:sp>
      <p:sp>
        <p:nvSpPr>
          <p:cNvPr id="9" name="Text 7"/>
          <p:cNvSpPr/>
          <p:nvPr/>
        </p:nvSpPr>
        <p:spPr>
          <a:xfrm>
            <a:off x="1028343" y="4423172"/>
            <a:ext cx="2657237"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Speech Emotion</a:t>
            </a:r>
            <a:endParaRPr lang="en-US" sz="2000" dirty="0"/>
          </a:p>
        </p:txBody>
      </p:sp>
      <p:sp>
        <p:nvSpPr>
          <p:cNvPr id="10" name="Text 8"/>
          <p:cNvSpPr/>
          <p:nvPr/>
        </p:nvSpPr>
        <p:spPr>
          <a:xfrm>
            <a:off x="4146828" y="4423172"/>
            <a:ext cx="2657237"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35%</a:t>
            </a:r>
            <a:endParaRPr lang="en-US" sz="2000" dirty="0"/>
          </a:p>
        </p:txBody>
      </p:sp>
      <p:sp>
        <p:nvSpPr>
          <p:cNvPr id="11" name="Shape 9"/>
          <p:cNvSpPr/>
          <p:nvPr/>
        </p:nvSpPr>
        <p:spPr>
          <a:xfrm>
            <a:off x="801410" y="4929783"/>
            <a:ext cx="6229469" cy="650319"/>
          </a:xfrm>
          <a:prstGeom prst="rect">
            <a:avLst/>
          </a:prstGeom>
          <a:solidFill>
            <a:srgbClr val="FFFFFF">
              <a:alpha val="4000"/>
            </a:srgbClr>
          </a:solidFill>
          <a:ln/>
        </p:spPr>
      </p:sp>
      <p:sp>
        <p:nvSpPr>
          <p:cNvPr id="12" name="Text 10"/>
          <p:cNvSpPr/>
          <p:nvPr/>
        </p:nvSpPr>
        <p:spPr>
          <a:xfrm>
            <a:off x="1028343" y="5073491"/>
            <a:ext cx="2657237"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Eye Contact</a:t>
            </a:r>
            <a:endParaRPr lang="en-US" sz="2000" dirty="0"/>
          </a:p>
        </p:txBody>
      </p:sp>
      <p:sp>
        <p:nvSpPr>
          <p:cNvPr id="13" name="Text 11"/>
          <p:cNvSpPr/>
          <p:nvPr/>
        </p:nvSpPr>
        <p:spPr>
          <a:xfrm>
            <a:off x="4146828" y="5073491"/>
            <a:ext cx="2657237"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15%</a:t>
            </a:r>
            <a:endParaRPr lang="en-US" sz="2000" dirty="0"/>
          </a:p>
        </p:txBody>
      </p:sp>
      <p:sp>
        <p:nvSpPr>
          <p:cNvPr id="14" name="Shape 12"/>
          <p:cNvSpPr/>
          <p:nvPr/>
        </p:nvSpPr>
        <p:spPr>
          <a:xfrm>
            <a:off x="801410" y="5580102"/>
            <a:ext cx="6229469" cy="650319"/>
          </a:xfrm>
          <a:prstGeom prst="rect">
            <a:avLst/>
          </a:prstGeom>
          <a:solidFill>
            <a:srgbClr val="000000">
              <a:alpha val="4000"/>
            </a:srgbClr>
          </a:solidFill>
          <a:ln/>
        </p:spPr>
      </p:sp>
      <p:sp>
        <p:nvSpPr>
          <p:cNvPr id="15" name="Text 13"/>
          <p:cNvSpPr/>
          <p:nvPr/>
        </p:nvSpPr>
        <p:spPr>
          <a:xfrm>
            <a:off x="1028343" y="5723811"/>
            <a:ext cx="2657237"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Vocal Confidence</a:t>
            </a:r>
            <a:endParaRPr lang="en-US" sz="2000" dirty="0"/>
          </a:p>
        </p:txBody>
      </p:sp>
      <p:sp>
        <p:nvSpPr>
          <p:cNvPr id="16" name="Text 14"/>
          <p:cNvSpPr/>
          <p:nvPr/>
        </p:nvSpPr>
        <p:spPr>
          <a:xfrm>
            <a:off x="4146828" y="5723811"/>
            <a:ext cx="2657237"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10%</a:t>
            </a:r>
            <a:endParaRPr lang="en-US" sz="2000" dirty="0"/>
          </a:p>
        </p:txBody>
      </p:sp>
      <p:sp>
        <p:nvSpPr>
          <p:cNvPr id="17" name="Text 15"/>
          <p:cNvSpPr/>
          <p:nvPr/>
        </p:nvSpPr>
        <p:spPr>
          <a:xfrm>
            <a:off x="7599521" y="3012043"/>
            <a:ext cx="4603075" cy="354330"/>
          </a:xfrm>
          <a:prstGeom prst="rect">
            <a:avLst/>
          </a:prstGeom>
          <a:noFill/>
          <a:ln/>
        </p:spPr>
        <p:txBody>
          <a:bodyPr wrap="none" lIns="0" tIns="0" rIns="0" bIns="0" rtlCol="0" anchor="t"/>
          <a:lstStyle/>
          <a:p>
            <a:pPr marL="0" indent="0" algn="l">
              <a:lnSpc>
                <a:spcPts val="2750"/>
              </a:lnSpc>
              <a:buNone/>
            </a:pPr>
            <a:r>
              <a:rPr lang="en-US" sz="2800" b="1" dirty="0">
                <a:solidFill>
                  <a:srgbClr val="333F70"/>
                </a:solidFill>
                <a:latin typeface="Unbounded Bold" pitchFamily="34" charset="0"/>
                <a:ea typeface="Unbounded Bold" pitchFamily="34" charset="-122"/>
                <a:cs typeface="Unbounded Bold" pitchFamily="34" charset="-120"/>
              </a:rPr>
              <a:t>Emotion Appropriateness</a:t>
            </a:r>
            <a:endParaRPr lang="en-US" sz="2800" dirty="0"/>
          </a:p>
        </p:txBody>
      </p:sp>
      <p:sp>
        <p:nvSpPr>
          <p:cNvPr id="18" name="Text 16"/>
          <p:cNvSpPr/>
          <p:nvPr/>
        </p:nvSpPr>
        <p:spPr>
          <a:xfrm>
            <a:off x="7599521" y="3593187"/>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2000" dirty="0">
                <a:solidFill>
                  <a:srgbClr val="3E2513"/>
                </a:solidFill>
                <a:latin typeface="Open Sans" pitchFamily="34" charset="0"/>
                <a:ea typeface="Open Sans" pitchFamily="34" charset="-122"/>
                <a:cs typeface="Open Sans" pitchFamily="34" charset="-120"/>
              </a:rPr>
              <a:t>Positive:</a:t>
            </a:r>
            <a:r>
              <a:rPr lang="en-US" sz="2000" dirty="0">
                <a:solidFill>
                  <a:srgbClr val="333F70"/>
                </a:solidFill>
                <a:latin typeface="Open Sans" pitchFamily="34" charset="0"/>
                <a:ea typeface="Open Sans" pitchFamily="34" charset="-122"/>
                <a:cs typeface="Open Sans" pitchFamily="34" charset="-120"/>
              </a:rPr>
              <a:t> Happy (90), Calm (85), Neutral (75)</a:t>
            </a:r>
            <a:endParaRPr lang="en-US" sz="2000" dirty="0"/>
          </a:p>
        </p:txBody>
      </p:sp>
      <p:sp>
        <p:nvSpPr>
          <p:cNvPr id="19" name="Text 17"/>
          <p:cNvSpPr/>
          <p:nvPr/>
        </p:nvSpPr>
        <p:spPr>
          <a:xfrm>
            <a:off x="7599521" y="4035385"/>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2000" dirty="0">
                <a:latin typeface="Open Sans" pitchFamily="34" charset="0"/>
                <a:ea typeface="Open Sans" pitchFamily="34" charset="-122"/>
                <a:cs typeface="Open Sans" pitchFamily="34" charset="-120"/>
              </a:rPr>
              <a:t>Acceptable</a:t>
            </a:r>
            <a:r>
              <a:rPr lang="en-US" sz="2000" dirty="0">
                <a:solidFill>
                  <a:srgbClr val="F3E3D8"/>
                </a:solidFill>
                <a:latin typeface="Open Sans" pitchFamily="34" charset="0"/>
                <a:ea typeface="Open Sans" pitchFamily="34" charset="-122"/>
                <a:cs typeface="Open Sans" pitchFamily="34" charset="-120"/>
              </a:rPr>
              <a:t>:</a:t>
            </a:r>
            <a:r>
              <a:rPr lang="en-US" sz="2000" dirty="0">
                <a:solidFill>
                  <a:srgbClr val="333F70"/>
                </a:solidFill>
                <a:latin typeface="Open Sans" pitchFamily="34" charset="0"/>
                <a:ea typeface="Open Sans" pitchFamily="34" charset="-122"/>
                <a:cs typeface="Open Sans" pitchFamily="34" charset="-120"/>
              </a:rPr>
              <a:t> Surprise (60)</a:t>
            </a:r>
            <a:endParaRPr lang="en-US" sz="2000" dirty="0"/>
          </a:p>
        </p:txBody>
      </p:sp>
      <p:sp>
        <p:nvSpPr>
          <p:cNvPr id="20" name="Text 18"/>
          <p:cNvSpPr/>
          <p:nvPr/>
        </p:nvSpPr>
        <p:spPr>
          <a:xfrm>
            <a:off x="7599521" y="447758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2000" dirty="0">
                <a:solidFill>
                  <a:srgbClr val="3E2513"/>
                </a:solidFill>
                <a:latin typeface="Open Sans" pitchFamily="34" charset="0"/>
                <a:ea typeface="Open Sans" pitchFamily="34" charset="-122"/>
                <a:cs typeface="Open Sans" pitchFamily="34" charset="-120"/>
              </a:rPr>
              <a:t>Negative:</a:t>
            </a:r>
            <a:r>
              <a:rPr lang="en-US" sz="2000" dirty="0">
                <a:solidFill>
                  <a:srgbClr val="333F70"/>
                </a:solidFill>
                <a:latin typeface="Open Sans" pitchFamily="34" charset="0"/>
                <a:ea typeface="Open Sans" pitchFamily="34" charset="-122"/>
                <a:cs typeface="Open Sans" pitchFamily="34" charset="-120"/>
              </a:rPr>
              <a:t> Sad (40), Fear (35), Angry (25), Disgust (20)</a:t>
            </a:r>
            <a:endParaRPr lang="en-US" sz="2000" dirty="0"/>
          </a:p>
        </p:txBody>
      </p:sp>
      <p:pic>
        <p:nvPicPr>
          <p:cNvPr id="22" name="Picture 21">
            <a:extLst>
              <a:ext uri="{FF2B5EF4-FFF2-40B4-BE49-F238E27FC236}">
                <a16:creationId xmlns:a16="http://schemas.microsoft.com/office/drawing/2014/main" id="{041BC3C1-2A8C-AB97-5D02-4096CD6B02BA}"/>
              </a:ext>
            </a:extLst>
          </p:cNvPr>
          <p:cNvPicPr>
            <a:picLocks noChangeAspect="1"/>
          </p:cNvPicPr>
          <p:nvPr/>
        </p:nvPicPr>
        <p:blipFill>
          <a:blip r:embed="rId3"/>
          <a:stretch>
            <a:fillRect/>
          </a:stretch>
        </p:blipFill>
        <p:spPr>
          <a:xfrm>
            <a:off x="11687175" y="7610475"/>
            <a:ext cx="2943225" cy="6191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95469"/>
            <a:ext cx="13042821" cy="1417558"/>
          </a:xfrm>
          <a:prstGeom prst="rect">
            <a:avLst/>
          </a:prstGeom>
          <a:noFill/>
          <a:ln/>
        </p:spPr>
        <p:txBody>
          <a:bodyPr wrap="square" lIns="0" tIns="0" rIns="0" bIns="0" rtlCol="0" anchor="t"/>
          <a:lstStyle/>
          <a:p>
            <a:pPr marL="0" indent="0" algn="l">
              <a:lnSpc>
                <a:spcPts val="5550"/>
              </a:lnSpc>
              <a:buNone/>
            </a:pPr>
            <a:r>
              <a:rPr lang="en-US" sz="5400" b="1" dirty="0">
                <a:solidFill>
                  <a:srgbClr val="333F70"/>
                </a:solidFill>
                <a:latin typeface="Unbounded Bold" pitchFamily="34" charset="0"/>
                <a:ea typeface="Unbounded Bold" pitchFamily="34" charset="-122"/>
                <a:cs typeface="Unbounded Bold" pitchFamily="34" charset="-120"/>
              </a:rPr>
              <a:t>Implementation Details: Technology Stack</a:t>
            </a:r>
            <a:endParaRPr lang="en-US" sz="5400" dirty="0"/>
          </a:p>
        </p:txBody>
      </p:sp>
      <p:sp>
        <p:nvSpPr>
          <p:cNvPr id="3" name="Shape 1"/>
          <p:cNvSpPr/>
          <p:nvPr/>
        </p:nvSpPr>
        <p:spPr>
          <a:xfrm>
            <a:off x="793790" y="2766655"/>
            <a:ext cx="13042821" cy="4567476"/>
          </a:xfrm>
          <a:prstGeom prst="roundRect">
            <a:avLst>
              <a:gd name="adj" fmla="val 2086"/>
            </a:avLst>
          </a:prstGeom>
          <a:noFill/>
          <a:ln w="7620">
            <a:solidFill>
              <a:srgbClr val="000000">
                <a:alpha val="8000"/>
              </a:srgbClr>
            </a:solidFill>
            <a:prstDash val="solid"/>
          </a:ln>
        </p:spPr>
      </p:sp>
      <p:sp>
        <p:nvSpPr>
          <p:cNvPr id="4" name="Shape 2"/>
          <p:cNvSpPr/>
          <p:nvPr/>
        </p:nvSpPr>
        <p:spPr>
          <a:xfrm>
            <a:off x="801410" y="2774275"/>
            <a:ext cx="13027581" cy="650319"/>
          </a:xfrm>
          <a:prstGeom prst="rect">
            <a:avLst/>
          </a:prstGeom>
          <a:solidFill>
            <a:srgbClr val="FFFFFF">
              <a:alpha val="4000"/>
            </a:srgbClr>
          </a:solidFill>
          <a:ln/>
        </p:spPr>
      </p:sp>
      <p:sp>
        <p:nvSpPr>
          <p:cNvPr id="5" name="Text 3"/>
          <p:cNvSpPr/>
          <p:nvPr/>
        </p:nvSpPr>
        <p:spPr>
          <a:xfrm>
            <a:off x="1028343" y="2917984"/>
            <a:ext cx="3450788"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Backend Framework</a:t>
            </a:r>
            <a:endParaRPr lang="en-US" sz="2000" dirty="0"/>
          </a:p>
        </p:txBody>
      </p:sp>
      <p:sp>
        <p:nvSpPr>
          <p:cNvPr id="6" name="Text 4"/>
          <p:cNvSpPr/>
          <p:nvPr/>
        </p:nvSpPr>
        <p:spPr>
          <a:xfrm>
            <a:off x="4940379" y="2917984"/>
            <a:ext cx="8661797"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Flask 2.0+ with Flask-CORS</a:t>
            </a:r>
            <a:endParaRPr lang="en-US" sz="2000" dirty="0"/>
          </a:p>
        </p:txBody>
      </p:sp>
      <p:sp>
        <p:nvSpPr>
          <p:cNvPr id="7" name="Shape 5"/>
          <p:cNvSpPr/>
          <p:nvPr/>
        </p:nvSpPr>
        <p:spPr>
          <a:xfrm>
            <a:off x="801410" y="3424595"/>
            <a:ext cx="13027581" cy="650319"/>
          </a:xfrm>
          <a:prstGeom prst="rect">
            <a:avLst/>
          </a:prstGeom>
          <a:solidFill>
            <a:srgbClr val="000000">
              <a:alpha val="4000"/>
            </a:srgbClr>
          </a:solidFill>
          <a:ln/>
        </p:spPr>
      </p:sp>
      <p:sp>
        <p:nvSpPr>
          <p:cNvPr id="8" name="Text 6"/>
          <p:cNvSpPr/>
          <p:nvPr/>
        </p:nvSpPr>
        <p:spPr>
          <a:xfrm>
            <a:off x="1028343" y="3568303"/>
            <a:ext cx="3450788"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Face Detection</a:t>
            </a:r>
            <a:endParaRPr lang="en-US" sz="2000" dirty="0"/>
          </a:p>
        </p:txBody>
      </p:sp>
      <p:sp>
        <p:nvSpPr>
          <p:cNvPr id="9" name="Text 7"/>
          <p:cNvSpPr/>
          <p:nvPr/>
        </p:nvSpPr>
        <p:spPr>
          <a:xfrm>
            <a:off x="4940379" y="3568303"/>
            <a:ext cx="8661797"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MediaPipe 0.10+, OpenCV 4.8+</a:t>
            </a:r>
            <a:endParaRPr lang="en-US" sz="2000" dirty="0"/>
          </a:p>
        </p:txBody>
      </p:sp>
      <p:sp>
        <p:nvSpPr>
          <p:cNvPr id="10" name="Shape 8"/>
          <p:cNvSpPr/>
          <p:nvPr/>
        </p:nvSpPr>
        <p:spPr>
          <a:xfrm>
            <a:off x="801410" y="4074914"/>
            <a:ext cx="13027581" cy="650319"/>
          </a:xfrm>
          <a:prstGeom prst="rect">
            <a:avLst/>
          </a:prstGeom>
          <a:solidFill>
            <a:srgbClr val="FFFFFF">
              <a:alpha val="4000"/>
            </a:srgbClr>
          </a:solidFill>
          <a:ln/>
        </p:spPr>
      </p:sp>
      <p:sp>
        <p:nvSpPr>
          <p:cNvPr id="11" name="Text 9"/>
          <p:cNvSpPr/>
          <p:nvPr/>
        </p:nvSpPr>
        <p:spPr>
          <a:xfrm>
            <a:off x="1028343" y="4218623"/>
            <a:ext cx="3450788"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Facial Emotion Model</a:t>
            </a:r>
            <a:endParaRPr lang="en-US" sz="2000" dirty="0"/>
          </a:p>
        </p:txBody>
      </p:sp>
      <p:sp>
        <p:nvSpPr>
          <p:cNvPr id="12" name="Text 10"/>
          <p:cNvSpPr/>
          <p:nvPr/>
        </p:nvSpPr>
        <p:spPr>
          <a:xfrm>
            <a:off x="4940379" y="4218623"/>
            <a:ext cx="8661797"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TensorFlow/Keras (FER2013 CNN)</a:t>
            </a:r>
            <a:endParaRPr lang="en-US" sz="2000" dirty="0"/>
          </a:p>
        </p:txBody>
      </p:sp>
      <p:sp>
        <p:nvSpPr>
          <p:cNvPr id="13" name="Shape 11"/>
          <p:cNvSpPr/>
          <p:nvPr/>
        </p:nvSpPr>
        <p:spPr>
          <a:xfrm>
            <a:off x="801410" y="4725233"/>
            <a:ext cx="13027581" cy="650319"/>
          </a:xfrm>
          <a:prstGeom prst="rect">
            <a:avLst/>
          </a:prstGeom>
          <a:solidFill>
            <a:srgbClr val="000000">
              <a:alpha val="4000"/>
            </a:srgbClr>
          </a:solidFill>
          <a:ln/>
        </p:spPr>
      </p:sp>
      <p:sp>
        <p:nvSpPr>
          <p:cNvPr id="14" name="Text 12"/>
          <p:cNvSpPr/>
          <p:nvPr/>
        </p:nvSpPr>
        <p:spPr>
          <a:xfrm>
            <a:off x="1028343" y="4868942"/>
            <a:ext cx="3450788"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Speech Emotion Model</a:t>
            </a:r>
            <a:endParaRPr lang="en-US" sz="2000" dirty="0"/>
          </a:p>
        </p:txBody>
      </p:sp>
      <p:sp>
        <p:nvSpPr>
          <p:cNvPr id="15" name="Text 13"/>
          <p:cNvSpPr/>
          <p:nvPr/>
        </p:nvSpPr>
        <p:spPr>
          <a:xfrm>
            <a:off x="4940379" y="4868942"/>
            <a:ext cx="8661797"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HuggingFace Transformers (Wav2Vec2)</a:t>
            </a:r>
            <a:endParaRPr lang="en-US" sz="2000" dirty="0"/>
          </a:p>
        </p:txBody>
      </p:sp>
      <p:sp>
        <p:nvSpPr>
          <p:cNvPr id="16" name="Shape 14"/>
          <p:cNvSpPr/>
          <p:nvPr/>
        </p:nvSpPr>
        <p:spPr>
          <a:xfrm>
            <a:off x="801410" y="5375553"/>
            <a:ext cx="13027581" cy="650319"/>
          </a:xfrm>
          <a:prstGeom prst="rect">
            <a:avLst/>
          </a:prstGeom>
          <a:solidFill>
            <a:srgbClr val="FFFFFF">
              <a:alpha val="4000"/>
            </a:srgbClr>
          </a:solidFill>
          <a:ln/>
        </p:spPr>
      </p:sp>
      <p:sp>
        <p:nvSpPr>
          <p:cNvPr id="17" name="Text 15"/>
          <p:cNvSpPr/>
          <p:nvPr/>
        </p:nvSpPr>
        <p:spPr>
          <a:xfrm>
            <a:off x="1028343" y="5519261"/>
            <a:ext cx="3450788"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Audio Processing</a:t>
            </a:r>
            <a:endParaRPr lang="en-US" sz="2000" dirty="0"/>
          </a:p>
        </p:txBody>
      </p:sp>
      <p:sp>
        <p:nvSpPr>
          <p:cNvPr id="18" name="Text 16"/>
          <p:cNvSpPr/>
          <p:nvPr/>
        </p:nvSpPr>
        <p:spPr>
          <a:xfrm>
            <a:off x="4940379" y="5519261"/>
            <a:ext cx="8661797"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librosa 0.10+, sounddevice 0.4+</a:t>
            </a:r>
            <a:endParaRPr lang="en-US" sz="2000" dirty="0"/>
          </a:p>
        </p:txBody>
      </p:sp>
      <p:sp>
        <p:nvSpPr>
          <p:cNvPr id="19" name="Shape 17"/>
          <p:cNvSpPr/>
          <p:nvPr/>
        </p:nvSpPr>
        <p:spPr>
          <a:xfrm>
            <a:off x="801410" y="6025872"/>
            <a:ext cx="13027581" cy="650319"/>
          </a:xfrm>
          <a:prstGeom prst="rect">
            <a:avLst/>
          </a:prstGeom>
          <a:solidFill>
            <a:srgbClr val="000000">
              <a:alpha val="4000"/>
            </a:srgbClr>
          </a:solidFill>
          <a:ln/>
        </p:spPr>
      </p:sp>
      <p:sp>
        <p:nvSpPr>
          <p:cNvPr id="20" name="Text 18"/>
          <p:cNvSpPr/>
          <p:nvPr/>
        </p:nvSpPr>
        <p:spPr>
          <a:xfrm>
            <a:off x="1028343" y="6169581"/>
            <a:ext cx="3450788"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Deep Learning</a:t>
            </a:r>
            <a:endParaRPr lang="en-US" sz="2000" dirty="0"/>
          </a:p>
        </p:txBody>
      </p:sp>
      <p:sp>
        <p:nvSpPr>
          <p:cNvPr id="21" name="Text 19"/>
          <p:cNvSpPr/>
          <p:nvPr/>
        </p:nvSpPr>
        <p:spPr>
          <a:xfrm>
            <a:off x="4940379" y="6169581"/>
            <a:ext cx="8661797"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TensorFlow 2.10+, PyTorch</a:t>
            </a:r>
            <a:endParaRPr lang="en-US" sz="2000" dirty="0"/>
          </a:p>
        </p:txBody>
      </p:sp>
      <p:sp>
        <p:nvSpPr>
          <p:cNvPr id="22" name="Shape 20"/>
          <p:cNvSpPr/>
          <p:nvPr/>
        </p:nvSpPr>
        <p:spPr>
          <a:xfrm>
            <a:off x="801410" y="6676192"/>
            <a:ext cx="13027581" cy="650319"/>
          </a:xfrm>
          <a:prstGeom prst="rect">
            <a:avLst/>
          </a:prstGeom>
          <a:solidFill>
            <a:srgbClr val="FFFFFF">
              <a:alpha val="4000"/>
            </a:srgbClr>
          </a:solidFill>
          <a:ln/>
        </p:spPr>
      </p:sp>
      <p:sp>
        <p:nvSpPr>
          <p:cNvPr id="23" name="Text 21"/>
          <p:cNvSpPr/>
          <p:nvPr/>
        </p:nvSpPr>
        <p:spPr>
          <a:xfrm>
            <a:off x="1028343" y="6819900"/>
            <a:ext cx="3450788"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Frontend</a:t>
            </a:r>
            <a:endParaRPr lang="en-US" sz="2000" dirty="0"/>
          </a:p>
        </p:txBody>
      </p:sp>
      <p:sp>
        <p:nvSpPr>
          <p:cNvPr id="24" name="Text 22"/>
          <p:cNvSpPr/>
          <p:nvPr/>
        </p:nvSpPr>
        <p:spPr>
          <a:xfrm>
            <a:off x="4940379" y="6819900"/>
            <a:ext cx="8661797" cy="362903"/>
          </a:xfrm>
          <a:prstGeom prst="rect">
            <a:avLst/>
          </a:prstGeom>
          <a:noFill/>
          <a:ln/>
        </p:spPr>
        <p:txBody>
          <a:bodyPr wrap="non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HTML5, CSS3, JavaScript</a:t>
            </a:r>
            <a:endParaRPr lang="en-US" sz="2000" dirty="0"/>
          </a:p>
        </p:txBody>
      </p:sp>
      <p:pic>
        <p:nvPicPr>
          <p:cNvPr id="26" name="Picture 25">
            <a:extLst>
              <a:ext uri="{FF2B5EF4-FFF2-40B4-BE49-F238E27FC236}">
                <a16:creationId xmlns:a16="http://schemas.microsoft.com/office/drawing/2014/main" id="{821BAC84-4B60-472F-1E47-0E224DC297E1}"/>
              </a:ext>
            </a:extLst>
          </p:cNvPr>
          <p:cNvPicPr>
            <a:picLocks noChangeAspect="1"/>
          </p:cNvPicPr>
          <p:nvPr/>
        </p:nvPicPr>
        <p:blipFill>
          <a:blip r:embed="rId3"/>
          <a:stretch>
            <a:fillRect/>
          </a:stretch>
        </p:blipFill>
        <p:spPr>
          <a:xfrm>
            <a:off x="11687175" y="7505461"/>
            <a:ext cx="2943225" cy="6191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0553"/>
          </a:xfrm>
          <a:prstGeom prst="rect">
            <a:avLst/>
          </a:prstGeom>
        </p:spPr>
      </p:pic>
      <p:sp>
        <p:nvSpPr>
          <p:cNvPr id="3" name="Text 0"/>
          <p:cNvSpPr/>
          <p:nvPr/>
        </p:nvSpPr>
        <p:spPr>
          <a:xfrm>
            <a:off x="6158151" y="527804"/>
            <a:ext cx="7800499" cy="1199436"/>
          </a:xfrm>
          <a:prstGeom prst="rect">
            <a:avLst/>
          </a:prstGeom>
          <a:noFill/>
          <a:ln/>
        </p:spPr>
        <p:txBody>
          <a:bodyPr wrap="square" lIns="0" tIns="0" rIns="0" bIns="0" rtlCol="0" anchor="t"/>
          <a:lstStyle/>
          <a:p>
            <a:pPr marL="0" indent="0" algn="l">
              <a:lnSpc>
                <a:spcPts val="4700"/>
              </a:lnSpc>
              <a:buNone/>
            </a:pPr>
            <a:r>
              <a:rPr lang="en-US" sz="4800" b="1" dirty="0">
                <a:solidFill>
                  <a:srgbClr val="333F70"/>
                </a:solidFill>
                <a:latin typeface="Unbounded Bold" pitchFamily="34" charset="0"/>
                <a:ea typeface="Unbounded Bold" pitchFamily="34" charset="-122"/>
                <a:cs typeface="Unbounded Bold" pitchFamily="34" charset="-120"/>
              </a:rPr>
              <a:t>Core Modules &amp; Pre-trained Models</a:t>
            </a:r>
            <a:endParaRPr lang="en-US" sz="4800" dirty="0"/>
          </a:p>
        </p:txBody>
      </p:sp>
      <p:sp>
        <p:nvSpPr>
          <p:cNvPr id="4" name="Text 1"/>
          <p:cNvSpPr/>
          <p:nvPr/>
        </p:nvSpPr>
        <p:spPr>
          <a:xfrm>
            <a:off x="6158151" y="2207062"/>
            <a:ext cx="3345656" cy="299799"/>
          </a:xfrm>
          <a:prstGeom prst="rect">
            <a:avLst/>
          </a:prstGeom>
          <a:noFill/>
          <a:ln/>
        </p:spPr>
        <p:txBody>
          <a:bodyPr wrap="none" lIns="0" tIns="0" rIns="0" bIns="0" rtlCol="0" anchor="t"/>
          <a:lstStyle/>
          <a:p>
            <a:pPr marL="0" indent="0" algn="l">
              <a:lnSpc>
                <a:spcPts val="2350"/>
              </a:lnSpc>
              <a:buNone/>
            </a:pPr>
            <a:r>
              <a:rPr lang="en-US" sz="2800" b="1" dirty="0">
                <a:solidFill>
                  <a:srgbClr val="333F70"/>
                </a:solidFill>
                <a:latin typeface="Unbounded Bold" pitchFamily="34" charset="0"/>
                <a:ea typeface="Unbounded Bold" pitchFamily="34" charset="-122"/>
                <a:cs typeface="Unbounded Bold" pitchFamily="34" charset="-120"/>
              </a:rPr>
              <a:t>Face Emotion Analyzer</a:t>
            </a:r>
            <a:endParaRPr lang="en-US" sz="2800" dirty="0"/>
          </a:p>
        </p:txBody>
      </p:sp>
      <p:sp>
        <p:nvSpPr>
          <p:cNvPr id="5" name="Text 2"/>
          <p:cNvSpPr/>
          <p:nvPr/>
        </p:nvSpPr>
        <p:spPr>
          <a:xfrm>
            <a:off x="6158151" y="2698790"/>
            <a:ext cx="3666173" cy="614124"/>
          </a:xfrm>
          <a:prstGeom prst="rect">
            <a:avLst/>
          </a:prstGeom>
          <a:noFill/>
          <a:ln/>
        </p:spPr>
        <p:txBody>
          <a:bodyPr wrap="square" lIns="0" tIns="0" rIns="0" bIns="0" rtlCol="0" anchor="t"/>
          <a:lstStyle/>
          <a:p>
            <a:pPr marL="342900" indent="-342900" algn="l">
              <a:lnSpc>
                <a:spcPts val="2400"/>
              </a:lnSpc>
              <a:buSzPct val="100000"/>
              <a:buChar char="•"/>
            </a:pPr>
            <a:r>
              <a:rPr lang="en-US" sz="2000" dirty="0">
                <a:solidFill>
                  <a:srgbClr val="333F70"/>
                </a:solidFill>
                <a:latin typeface="Open Sans" pitchFamily="34" charset="0"/>
                <a:ea typeface="Open Sans" pitchFamily="34" charset="-122"/>
                <a:cs typeface="Open Sans" pitchFamily="34" charset="-120"/>
              </a:rPr>
              <a:t>Loads pre-trained FER2013 CNN model.</a:t>
            </a:r>
            <a:endParaRPr lang="en-US" sz="2000" dirty="0"/>
          </a:p>
        </p:txBody>
      </p:sp>
      <p:sp>
        <p:nvSpPr>
          <p:cNvPr id="6" name="Text 3"/>
          <p:cNvSpPr/>
          <p:nvPr/>
        </p:nvSpPr>
        <p:spPr>
          <a:xfrm>
            <a:off x="6158151" y="3380065"/>
            <a:ext cx="3666173" cy="614124"/>
          </a:xfrm>
          <a:prstGeom prst="rect">
            <a:avLst/>
          </a:prstGeom>
          <a:noFill/>
          <a:ln/>
        </p:spPr>
        <p:txBody>
          <a:bodyPr wrap="square" lIns="0" tIns="0" rIns="0" bIns="0" rtlCol="0" anchor="t"/>
          <a:lstStyle/>
          <a:p>
            <a:pPr marL="342900" indent="-342900" algn="l">
              <a:lnSpc>
                <a:spcPts val="2400"/>
              </a:lnSpc>
              <a:buSzPct val="100000"/>
              <a:buChar char="•"/>
            </a:pPr>
            <a:r>
              <a:rPr lang="en-US" sz="2000" dirty="0">
                <a:solidFill>
                  <a:srgbClr val="333F70"/>
                </a:solidFill>
                <a:latin typeface="Open Sans" pitchFamily="34" charset="0"/>
                <a:ea typeface="Open Sans" pitchFamily="34" charset="-122"/>
                <a:cs typeface="Open Sans" pitchFamily="34" charset="-120"/>
              </a:rPr>
              <a:t>Uses MediaPipe for fast face detection.</a:t>
            </a:r>
            <a:endParaRPr lang="en-US" sz="2000" dirty="0"/>
          </a:p>
        </p:txBody>
      </p:sp>
      <p:sp>
        <p:nvSpPr>
          <p:cNvPr id="7" name="Text 4"/>
          <p:cNvSpPr/>
          <p:nvPr/>
        </p:nvSpPr>
        <p:spPr>
          <a:xfrm>
            <a:off x="6158151" y="4061341"/>
            <a:ext cx="3666173" cy="614124"/>
          </a:xfrm>
          <a:prstGeom prst="rect">
            <a:avLst/>
          </a:prstGeom>
          <a:noFill/>
          <a:ln/>
        </p:spPr>
        <p:txBody>
          <a:bodyPr wrap="square" lIns="0" tIns="0" rIns="0" bIns="0" rtlCol="0" anchor="t"/>
          <a:lstStyle/>
          <a:p>
            <a:pPr marL="342900" indent="-342900" algn="l">
              <a:lnSpc>
                <a:spcPts val="2400"/>
              </a:lnSpc>
              <a:buSzPct val="100000"/>
              <a:buChar char="•"/>
            </a:pPr>
            <a:r>
              <a:rPr lang="en-US" sz="2000" dirty="0">
                <a:solidFill>
                  <a:srgbClr val="333F70"/>
                </a:solidFill>
                <a:latin typeface="Open Sans" pitchFamily="34" charset="0"/>
                <a:ea typeface="Open Sans" pitchFamily="34" charset="-122"/>
                <a:cs typeface="Open Sans" pitchFamily="34" charset="-120"/>
              </a:rPr>
              <a:t>Tracks eye contact and emotion history.</a:t>
            </a:r>
            <a:endParaRPr lang="en-US" sz="2000" dirty="0"/>
          </a:p>
        </p:txBody>
      </p:sp>
      <p:sp>
        <p:nvSpPr>
          <p:cNvPr id="8" name="Text 5"/>
          <p:cNvSpPr/>
          <p:nvPr/>
        </p:nvSpPr>
        <p:spPr>
          <a:xfrm>
            <a:off x="6158151" y="4867394"/>
            <a:ext cx="3666173" cy="599599"/>
          </a:xfrm>
          <a:prstGeom prst="rect">
            <a:avLst/>
          </a:prstGeom>
          <a:noFill/>
          <a:ln/>
        </p:spPr>
        <p:txBody>
          <a:bodyPr wrap="square" lIns="0" tIns="0" rIns="0" bIns="0" rtlCol="0" anchor="t"/>
          <a:lstStyle/>
          <a:p>
            <a:pPr marL="0" indent="0" algn="l">
              <a:lnSpc>
                <a:spcPts val="2350"/>
              </a:lnSpc>
              <a:buNone/>
            </a:pPr>
            <a:r>
              <a:rPr lang="en-US" sz="2800" b="1" dirty="0">
                <a:solidFill>
                  <a:srgbClr val="333F70"/>
                </a:solidFill>
                <a:latin typeface="Unbounded Bold" pitchFamily="34" charset="0"/>
                <a:ea typeface="Unbounded Bold" pitchFamily="34" charset="-122"/>
                <a:cs typeface="Unbounded Bold" pitchFamily="34" charset="-120"/>
              </a:rPr>
              <a:t>Realtime Speech Emotion Recognizer</a:t>
            </a:r>
            <a:endParaRPr lang="en-US" sz="2800" dirty="0"/>
          </a:p>
        </p:txBody>
      </p:sp>
      <p:sp>
        <p:nvSpPr>
          <p:cNvPr id="9" name="Text 6"/>
          <p:cNvSpPr/>
          <p:nvPr/>
        </p:nvSpPr>
        <p:spPr>
          <a:xfrm>
            <a:off x="6158151" y="5658922"/>
            <a:ext cx="3666173" cy="614124"/>
          </a:xfrm>
          <a:prstGeom prst="rect">
            <a:avLst/>
          </a:prstGeom>
          <a:noFill/>
          <a:ln/>
        </p:spPr>
        <p:txBody>
          <a:bodyPr wrap="square" lIns="0" tIns="0" rIns="0" bIns="0" rtlCol="0" anchor="t"/>
          <a:lstStyle/>
          <a:p>
            <a:pPr marL="342900" indent="-342900" algn="l">
              <a:lnSpc>
                <a:spcPts val="2400"/>
              </a:lnSpc>
              <a:buSzPct val="100000"/>
              <a:buChar char="•"/>
            </a:pPr>
            <a:r>
              <a:rPr lang="en-US" sz="2000" dirty="0">
                <a:solidFill>
                  <a:srgbClr val="333F70"/>
                </a:solidFill>
                <a:latin typeface="Open Sans" pitchFamily="34" charset="0"/>
                <a:ea typeface="Open Sans" pitchFamily="34" charset="-122"/>
                <a:cs typeface="Open Sans" pitchFamily="34" charset="-120"/>
              </a:rPr>
              <a:t>Uses pre-trained Wav2Vec2 model (HuggingFace).</a:t>
            </a:r>
            <a:endParaRPr lang="en-US" sz="2000" dirty="0"/>
          </a:p>
        </p:txBody>
      </p:sp>
      <p:sp>
        <p:nvSpPr>
          <p:cNvPr id="10" name="Text 7"/>
          <p:cNvSpPr/>
          <p:nvPr/>
        </p:nvSpPr>
        <p:spPr>
          <a:xfrm>
            <a:off x="6158151" y="6340197"/>
            <a:ext cx="3666173" cy="614124"/>
          </a:xfrm>
          <a:prstGeom prst="rect">
            <a:avLst/>
          </a:prstGeom>
          <a:noFill/>
          <a:ln/>
        </p:spPr>
        <p:txBody>
          <a:bodyPr wrap="square" lIns="0" tIns="0" rIns="0" bIns="0" rtlCol="0" anchor="t"/>
          <a:lstStyle/>
          <a:p>
            <a:pPr marL="342900" indent="-342900" algn="l">
              <a:lnSpc>
                <a:spcPts val="2400"/>
              </a:lnSpc>
              <a:buSzPct val="100000"/>
              <a:buChar char="•"/>
            </a:pPr>
            <a:r>
              <a:rPr lang="en-US" sz="2000" dirty="0">
                <a:solidFill>
                  <a:srgbClr val="333F70"/>
                </a:solidFill>
                <a:latin typeface="Open Sans" pitchFamily="34" charset="0"/>
                <a:ea typeface="Open Sans" pitchFamily="34" charset="-122"/>
                <a:cs typeface="Open Sans" pitchFamily="34" charset="-120"/>
              </a:rPr>
              <a:t>Processes 3-second audio chunks in real-time.</a:t>
            </a:r>
            <a:endParaRPr lang="en-US" sz="2000" dirty="0"/>
          </a:p>
        </p:txBody>
      </p:sp>
      <p:sp>
        <p:nvSpPr>
          <p:cNvPr id="11" name="Text 8"/>
          <p:cNvSpPr/>
          <p:nvPr/>
        </p:nvSpPr>
        <p:spPr>
          <a:xfrm>
            <a:off x="6158151" y="7021473"/>
            <a:ext cx="3666173" cy="614124"/>
          </a:xfrm>
          <a:prstGeom prst="rect">
            <a:avLst/>
          </a:prstGeom>
          <a:noFill/>
          <a:ln/>
        </p:spPr>
        <p:txBody>
          <a:bodyPr wrap="square" lIns="0" tIns="0" rIns="0" bIns="0" rtlCol="0" anchor="t"/>
          <a:lstStyle/>
          <a:p>
            <a:pPr marL="342900" indent="-342900" algn="l">
              <a:lnSpc>
                <a:spcPts val="2400"/>
              </a:lnSpc>
              <a:buSzPct val="100000"/>
              <a:buChar char="•"/>
            </a:pPr>
            <a:r>
              <a:rPr lang="en-US" sz="2000" dirty="0">
                <a:solidFill>
                  <a:srgbClr val="333F70"/>
                </a:solidFill>
                <a:latin typeface="Open Sans" pitchFamily="34" charset="0"/>
                <a:ea typeface="Open Sans" pitchFamily="34" charset="-122"/>
                <a:cs typeface="Open Sans" pitchFamily="34" charset="-120"/>
              </a:rPr>
              <a:t>Categorizes emotions (positive/negative/neutral).</a:t>
            </a:r>
            <a:endParaRPr lang="en-US" sz="2000" dirty="0"/>
          </a:p>
        </p:txBody>
      </p:sp>
      <p:sp>
        <p:nvSpPr>
          <p:cNvPr id="12" name="Text 9"/>
          <p:cNvSpPr/>
          <p:nvPr/>
        </p:nvSpPr>
        <p:spPr>
          <a:xfrm>
            <a:off x="10300097" y="2207062"/>
            <a:ext cx="2731294" cy="299799"/>
          </a:xfrm>
          <a:prstGeom prst="rect">
            <a:avLst/>
          </a:prstGeom>
          <a:noFill/>
          <a:ln/>
        </p:spPr>
        <p:txBody>
          <a:bodyPr wrap="none" lIns="0" tIns="0" rIns="0" bIns="0" rtlCol="0" anchor="t"/>
          <a:lstStyle/>
          <a:p>
            <a:pPr marL="0" indent="0" algn="l">
              <a:lnSpc>
                <a:spcPts val="2350"/>
              </a:lnSpc>
              <a:buNone/>
            </a:pPr>
            <a:r>
              <a:rPr lang="en-US" sz="2800" b="1" dirty="0">
                <a:solidFill>
                  <a:srgbClr val="333F70"/>
                </a:solidFill>
                <a:latin typeface="Unbounded Bold" pitchFamily="34" charset="0"/>
                <a:ea typeface="Unbounded Bold" pitchFamily="34" charset="-122"/>
                <a:cs typeface="Unbounded Bold" pitchFamily="34" charset="-120"/>
              </a:rPr>
              <a:t>Multimodal Fusion</a:t>
            </a:r>
            <a:endParaRPr lang="en-US" sz="2800" dirty="0"/>
          </a:p>
        </p:txBody>
      </p:sp>
      <p:sp>
        <p:nvSpPr>
          <p:cNvPr id="13" name="Text 10"/>
          <p:cNvSpPr/>
          <p:nvPr/>
        </p:nvSpPr>
        <p:spPr>
          <a:xfrm>
            <a:off x="10300097" y="2698790"/>
            <a:ext cx="3666173" cy="614124"/>
          </a:xfrm>
          <a:prstGeom prst="rect">
            <a:avLst/>
          </a:prstGeom>
          <a:noFill/>
          <a:ln/>
        </p:spPr>
        <p:txBody>
          <a:bodyPr wrap="square" lIns="0" tIns="0" rIns="0" bIns="0" rtlCol="0" anchor="t"/>
          <a:lstStyle/>
          <a:p>
            <a:pPr marL="342900" indent="-342900" algn="l">
              <a:lnSpc>
                <a:spcPts val="2400"/>
              </a:lnSpc>
              <a:buSzPct val="100000"/>
              <a:buChar char="•"/>
            </a:pPr>
            <a:r>
              <a:rPr lang="en-US" sz="2000" dirty="0">
                <a:solidFill>
                  <a:srgbClr val="333F70"/>
                </a:solidFill>
                <a:latin typeface="Open Sans" pitchFamily="34" charset="0"/>
                <a:ea typeface="Open Sans" pitchFamily="34" charset="-122"/>
                <a:cs typeface="Open Sans" pitchFamily="34" charset="-120"/>
              </a:rPr>
              <a:t>Combines facial and speech emotion scores.</a:t>
            </a:r>
            <a:endParaRPr lang="en-US" sz="2000" dirty="0"/>
          </a:p>
        </p:txBody>
      </p:sp>
      <p:sp>
        <p:nvSpPr>
          <p:cNvPr id="14" name="Text 11"/>
          <p:cNvSpPr/>
          <p:nvPr/>
        </p:nvSpPr>
        <p:spPr>
          <a:xfrm>
            <a:off x="10300097" y="3380065"/>
            <a:ext cx="3666173" cy="614124"/>
          </a:xfrm>
          <a:prstGeom prst="rect">
            <a:avLst/>
          </a:prstGeom>
          <a:noFill/>
          <a:ln/>
        </p:spPr>
        <p:txBody>
          <a:bodyPr wrap="square" lIns="0" tIns="0" rIns="0" bIns="0" rtlCol="0" anchor="t"/>
          <a:lstStyle/>
          <a:p>
            <a:pPr marL="342900" indent="-342900" algn="l">
              <a:lnSpc>
                <a:spcPts val="2400"/>
              </a:lnSpc>
              <a:buSzPct val="100000"/>
              <a:buChar char="•"/>
            </a:pPr>
            <a:r>
              <a:rPr lang="en-US" sz="2000" dirty="0">
                <a:solidFill>
                  <a:srgbClr val="333F70"/>
                </a:solidFill>
                <a:latin typeface="Open Sans" pitchFamily="34" charset="0"/>
                <a:ea typeface="Open Sans" pitchFamily="34" charset="-122"/>
                <a:cs typeface="Open Sans" pitchFamily="34" charset="-120"/>
              </a:rPr>
              <a:t>Generates comprehensive interview reports.</a:t>
            </a:r>
            <a:endParaRPr lang="en-US" sz="2000" dirty="0"/>
          </a:p>
        </p:txBody>
      </p:sp>
      <p:sp>
        <p:nvSpPr>
          <p:cNvPr id="15" name="Text 12"/>
          <p:cNvSpPr/>
          <p:nvPr/>
        </p:nvSpPr>
        <p:spPr>
          <a:xfrm>
            <a:off x="10300097" y="4061341"/>
            <a:ext cx="3666173" cy="614124"/>
          </a:xfrm>
          <a:prstGeom prst="rect">
            <a:avLst/>
          </a:prstGeom>
          <a:noFill/>
          <a:ln/>
        </p:spPr>
        <p:txBody>
          <a:bodyPr wrap="square" lIns="0" tIns="0" rIns="0" bIns="0" rtlCol="0" anchor="t"/>
          <a:lstStyle/>
          <a:p>
            <a:pPr marL="342900" indent="-342900" algn="l">
              <a:lnSpc>
                <a:spcPts val="2400"/>
              </a:lnSpc>
              <a:buSzPct val="100000"/>
              <a:buChar char="•"/>
            </a:pPr>
            <a:r>
              <a:rPr lang="en-US" sz="2000" dirty="0">
                <a:solidFill>
                  <a:srgbClr val="333F70"/>
                </a:solidFill>
                <a:latin typeface="Open Sans" pitchFamily="34" charset="0"/>
                <a:ea typeface="Open Sans" pitchFamily="34" charset="-122"/>
                <a:cs typeface="Open Sans" pitchFamily="34" charset="-120"/>
              </a:rPr>
              <a:t>Provides prioritized recommendations in JSON.</a:t>
            </a:r>
            <a:endParaRPr lang="en-US" sz="2000" dirty="0"/>
          </a:p>
        </p:txBody>
      </p:sp>
      <p:sp>
        <p:nvSpPr>
          <p:cNvPr id="16" name="Text 13"/>
          <p:cNvSpPr/>
          <p:nvPr/>
        </p:nvSpPr>
        <p:spPr>
          <a:xfrm>
            <a:off x="10300097" y="4867394"/>
            <a:ext cx="2870835" cy="299799"/>
          </a:xfrm>
          <a:prstGeom prst="rect">
            <a:avLst/>
          </a:prstGeom>
          <a:noFill/>
          <a:ln/>
        </p:spPr>
        <p:txBody>
          <a:bodyPr wrap="none" lIns="0" tIns="0" rIns="0" bIns="0" rtlCol="0" anchor="t"/>
          <a:lstStyle/>
          <a:p>
            <a:pPr marL="0" indent="0" algn="l">
              <a:lnSpc>
                <a:spcPts val="2350"/>
              </a:lnSpc>
              <a:buNone/>
            </a:pPr>
            <a:r>
              <a:rPr lang="en-US" sz="2800" b="1" dirty="0">
                <a:solidFill>
                  <a:srgbClr val="333F70"/>
                </a:solidFill>
                <a:latin typeface="Unbounded Bold" pitchFamily="34" charset="0"/>
                <a:ea typeface="Unbounded Bold" pitchFamily="34" charset="-122"/>
                <a:cs typeface="Unbounded Bold" pitchFamily="34" charset="-120"/>
              </a:rPr>
              <a:t>Pre-trained Models</a:t>
            </a:r>
            <a:endParaRPr lang="en-US" sz="2800" dirty="0"/>
          </a:p>
        </p:txBody>
      </p:sp>
      <p:sp>
        <p:nvSpPr>
          <p:cNvPr id="17" name="Text 14"/>
          <p:cNvSpPr/>
          <p:nvPr/>
        </p:nvSpPr>
        <p:spPr>
          <a:xfrm>
            <a:off x="10300097" y="5359122"/>
            <a:ext cx="3666173" cy="614124"/>
          </a:xfrm>
          <a:prstGeom prst="rect">
            <a:avLst/>
          </a:prstGeom>
          <a:noFill/>
          <a:ln/>
        </p:spPr>
        <p:txBody>
          <a:bodyPr wrap="square" lIns="0" tIns="0" rIns="0" bIns="0" rtlCol="0" anchor="t"/>
          <a:lstStyle/>
          <a:p>
            <a:pPr marL="342900" indent="-342900" algn="l">
              <a:lnSpc>
                <a:spcPts val="2400"/>
              </a:lnSpc>
              <a:buSzPct val="100000"/>
              <a:buChar char="•"/>
            </a:pPr>
            <a:r>
              <a:rPr lang="en-US" sz="2000" dirty="0">
                <a:solidFill>
                  <a:srgbClr val="333F70"/>
                </a:solidFill>
                <a:highlight>
                  <a:srgbClr val="F2F2F2"/>
                </a:highlight>
                <a:latin typeface="Consolas" pitchFamily="34" charset="0"/>
                <a:ea typeface="Consolas" pitchFamily="34" charset="-122"/>
                <a:cs typeface="Consolas" pitchFamily="34" charset="-120"/>
              </a:rPr>
              <a:t>facial_emotion_model.h5</a:t>
            </a:r>
            <a:r>
              <a:rPr lang="en-US" sz="2000" dirty="0">
                <a:solidFill>
                  <a:srgbClr val="333F70"/>
                </a:solidFill>
                <a:latin typeface="Open Sans" pitchFamily="34" charset="0"/>
                <a:ea typeface="Open Sans" pitchFamily="34" charset="-122"/>
                <a:cs typeface="Open Sans" pitchFamily="34" charset="-120"/>
              </a:rPr>
              <a:t> (FER2013 CNN)</a:t>
            </a:r>
            <a:endParaRPr lang="en-US" sz="2000" dirty="0"/>
          </a:p>
        </p:txBody>
      </p:sp>
      <p:sp>
        <p:nvSpPr>
          <p:cNvPr id="18" name="Text 15"/>
          <p:cNvSpPr/>
          <p:nvPr/>
        </p:nvSpPr>
        <p:spPr>
          <a:xfrm>
            <a:off x="10300097" y="6040398"/>
            <a:ext cx="3666173" cy="614124"/>
          </a:xfrm>
          <a:prstGeom prst="rect">
            <a:avLst/>
          </a:prstGeom>
          <a:noFill/>
          <a:ln/>
        </p:spPr>
        <p:txBody>
          <a:bodyPr wrap="square" lIns="0" tIns="0" rIns="0" bIns="0" rtlCol="0" anchor="t"/>
          <a:lstStyle/>
          <a:p>
            <a:pPr marL="342900" indent="-342900" algn="l">
              <a:lnSpc>
                <a:spcPts val="2400"/>
              </a:lnSpc>
              <a:buSzPct val="100000"/>
              <a:buChar char="•"/>
            </a:pPr>
            <a:r>
              <a:rPr lang="en-US" sz="2000" dirty="0">
                <a:solidFill>
                  <a:srgbClr val="333F70"/>
                </a:solidFill>
                <a:highlight>
                  <a:srgbClr val="F2F2F2"/>
                </a:highlight>
                <a:latin typeface="Consolas" pitchFamily="34" charset="0"/>
                <a:ea typeface="Consolas" pitchFamily="34" charset="-122"/>
                <a:cs typeface="Consolas" pitchFamily="34" charset="-120"/>
              </a:rPr>
              <a:t>speech_emotion_model.h5</a:t>
            </a:r>
            <a:r>
              <a:rPr lang="en-US" sz="2000" dirty="0">
                <a:solidFill>
                  <a:srgbClr val="333F70"/>
                </a:solidFill>
                <a:latin typeface="Open Sans" pitchFamily="34" charset="0"/>
                <a:ea typeface="Open Sans" pitchFamily="34" charset="-122"/>
                <a:cs typeface="Open Sans" pitchFamily="34" charset="-120"/>
              </a:rPr>
              <a:t> (Custom CNN)</a:t>
            </a:r>
            <a:endParaRPr lang="en-US" sz="2000" dirty="0"/>
          </a:p>
        </p:txBody>
      </p:sp>
      <p:pic>
        <p:nvPicPr>
          <p:cNvPr id="20" name="Picture 19">
            <a:extLst>
              <a:ext uri="{FF2B5EF4-FFF2-40B4-BE49-F238E27FC236}">
                <a16:creationId xmlns:a16="http://schemas.microsoft.com/office/drawing/2014/main" id="{6B56E993-934E-9228-A9E2-BFD27EB1CFA9}"/>
              </a:ext>
            </a:extLst>
          </p:cNvPr>
          <p:cNvPicPr>
            <a:picLocks noChangeAspect="1"/>
          </p:cNvPicPr>
          <p:nvPr/>
        </p:nvPicPr>
        <p:blipFill>
          <a:blip r:embed="rId4"/>
          <a:stretch>
            <a:fillRect/>
          </a:stretch>
        </p:blipFill>
        <p:spPr>
          <a:xfrm>
            <a:off x="11559778" y="7597775"/>
            <a:ext cx="2943225" cy="6191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8743" y="328970"/>
            <a:ext cx="4889778" cy="373856"/>
          </a:xfrm>
          <a:prstGeom prst="rect">
            <a:avLst/>
          </a:prstGeom>
          <a:noFill/>
          <a:ln/>
        </p:spPr>
        <p:txBody>
          <a:bodyPr wrap="none" lIns="0" tIns="0" rIns="0" bIns="0" rtlCol="0" anchor="t"/>
          <a:lstStyle/>
          <a:p>
            <a:pPr marL="0" indent="0" algn="l">
              <a:lnSpc>
                <a:spcPts val="2900"/>
              </a:lnSpc>
              <a:buNone/>
            </a:pPr>
            <a:r>
              <a:rPr lang="en-US" sz="4800" b="1" dirty="0">
                <a:solidFill>
                  <a:srgbClr val="333F70"/>
                </a:solidFill>
                <a:latin typeface="Unbounded Bold" pitchFamily="34" charset="0"/>
                <a:ea typeface="Unbounded Bold" pitchFamily="34" charset="-122"/>
                <a:cs typeface="Unbounded Bold" pitchFamily="34" charset="-120"/>
              </a:rPr>
              <a:t>Web Interface &amp; Datasets</a:t>
            </a:r>
            <a:endParaRPr lang="en-US" sz="4800" dirty="0"/>
          </a:p>
        </p:txBody>
      </p:sp>
      <p:sp>
        <p:nvSpPr>
          <p:cNvPr id="3" name="Text 1"/>
          <p:cNvSpPr/>
          <p:nvPr/>
        </p:nvSpPr>
        <p:spPr>
          <a:xfrm>
            <a:off x="418743" y="1001792"/>
            <a:ext cx="2232422" cy="186928"/>
          </a:xfrm>
          <a:prstGeom prst="rect">
            <a:avLst/>
          </a:prstGeom>
          <a:noFill/>
          <a:ln/>
        </p:spPr>
        <p:txBody>
          <a:bodyPr wrap="none" lIns="0" tIns="0" rIns="0" bIns="0" rtlCol="0" anchor="t"/>
          <a:lstStyle/>
          <a:p>
            <a:pPr marL="0" indent="0" algn="l">
              <a:lnSpc>
                <a:spcPts val="1450"/>
              </a:lnSpc>
              <a:buNone/>
            </a:pPr>
            <a:r>
              <a:rPr lang="en-US" sz="2800" b="1" dirty="0">
                <a:solidFill>
                  <a:srgbClr val="333F70"/>
                </a:solidFill>
                <a:latin typeface="Unbounded Bold" pitchFamily="34" charset="0"/>
                <a:ea typeface="Unbounded Bold" pitchFamily="34" charset="-122"/>
                <a:cs typeface="Unbounded Bold" pitchFamily="34" charset="-120"/>
              </a:rPr>
              <a:t>Web Interface Features</a:t>
            </a:r>
            <a:endParaRPr lang="en-US" sz="2800" dirty="0"/>
          </a:p>
        </p:txBody>
      </p:sp>
      <p:sp>
        <p:nvSpPr>
          <p:cNvPr id="4" name="Text 2"/>
          <p:cNvSpPr/>
          <p:nvPr/>
        </p:nvSpPr>
        <p:spPr>
          <a:xfrm>
            <a:off x="418743" y="1308259"/>
            <a:ext cx="6750487" cy="191453"/>
          </a:xfrm>
          <a:prstGeom prst="rect">
            <a:avLst/>
          </a:prstGeom>
          <a:noFill/>
          <a:ln/>
        </p:spPr>
        <p:txBody>
          <a:bodyPr wrap="none" lIns="0" tIns="0" rIns="0" bIns="0" rtlCol="0" anchor="t"/>
          <a:lstStyle/>
          <a:p>
            <a:pPr marL="342900" indent="-342900" algn="l">
              <a:lnSpc>
                <a:spcPts val="1500"/>
              </a:lnSpc>
              <a:buSzPct val="100000"/>
              <a:buChar char="•"/>
            </a:pPr>
            <a:r>
              <a:rPr lang="en-US" dirty="0">
                <a:solidFill>
                  <a:srgbClr val="333F70"/>
                </a:solidFill>
                <a:latin typeface="Open Sans" pitchFamily="34" charset="0"/>
                <a:ea typeface="Open Sans" pitchFamily="34" charset="-122"/>
                <a:cs typeface="Open Sans" pitchFamily="34" charset="-120"/>
              </a:rPr>
              <a:t>Real-time video streaming (MJPEG).</a:t>
            </a:r>
            <a:endParaRPr lang="en-US" dirty="0"/>
          </a:p>
        </p:txBody>
      </p:sp>
      <p:sp>
        <p:nvSpPr>
          <p:cNvPr id="5" name="Text 3"/>
          <p:cNvSpPr/>
          <p:nvPr/>
        </p:nvSpPr>
        <p:spPr>
          <a:xfrm>
            <a:off x="418743" y="1541502"/>
            <a:ext cx="6750487" cy="191453"/>
          </a:xfrm>
          <a:prstGeom prst="rect">
            <a:avLst/>
          </a:prstGeom>
          <a:noFill/>
          <a:ln/>
        </p:spPr>
        <p:txBody>
          <a:bodyPr wrap="none" lIns="0" tIns="0" rIns="0" bIns="0" rtlCol="0" anchor="t"/>
          <a:lstStyle/>
          <a:p>
            <a:pPr marL="342900" indent="-342900" algn="l">
              <a:lnSpc>
                <a:spcPts val="1500"/>
              </a:lnSpc>
              <a:buSzPct val="100000"/>
              <a:buChar char="•"/>
            </a:pPr>
            <a:r>
              <a:rPr lang="en-US" dirty="0">
                <a:solidFill>
                  <a:srgbClr val="333F70"/>
                </a:solidFill>
                <a:latin typeface="Open Sans" pitchFamily="34" charset="0"/>
                <a:ea typeface="Open Sans" pitchFamily="34" charset="-122"/>
                <a:cs typeface="Open Sans" pitchFamily="34" charset="-120"/>
              </a:rPr>
              <a:t>Start/Stop recording controls.</a:t>
            </a:r>
            <a:endParaRPr lang="en-US" dirty="0"/>
          </a:p>
        </p:txBody>
      </p:sp>
      <p:sp>
        <p:nvSpPr>
          <p:cNvPr id="6" name="Text 4"/>
          <p:cNvSpPr/>
          <p:nvPr/>
        </p:nvSpPr>
        <p:spPr>
          <a:xfrm>
            <a:off x="418743" y="1774746"/>
            <a:ext cx="6750487" cy="191453"/>
          </a:xfrm>
          <a:prstGeom prst="rect">
            <a:avLst/>
          </a:prstGeom>
          <a:noFill/>
          <a:ln/>
        </p:spPr>
        <p:txBody>
          <a:bodyPr wrap="none" lIns="0" tIns="0" rIns="0" bIns="0" rtlCol="0" anchor="t"/>
          <a:lstStyle/>
          <a:p>
            <a:pPr marL="342900" indent="-342900" algn="l">
              <a:lnSpc>
                <a:spcPts val="1500"/>
              </a:lnSpc>
              <a:buSzPct val="100000"/>
              <a:buChar char="•"/>
            </a:pPr>
            <a:r>
              <a:rPr lang="en-US" dirty="0">
                <a:solidFill>
                  <a:srgbClr val="333F70"/>
                </a:solidFill>
                <a:latin typeface="Open Sans" pitchFamily="34" charset="0"/>
                <a:ea typeface="Open Sans" pitchFamily="34" charset="-122"/>
                <a:cs typeface="Open Sans" pitchFamily="34" charset="-120"/>
              </a:rPr>
              <a:t>Live emotion display overlay.</a:t>
            </a:r>
            <a:endParaRPr lang="en-US" dirty="0"/>
          </a:p>
        </p:txBody>
      </p:sp>
      <p:sp>
        <p:nvSpPr>
          <p:cNvPr id="7" name="Text 5"/>
          <p:cNvSpPr/>
          <p:nvPr/>
        </p:nvSpPr>
        <p:spPr>
          <a:xfrm>
            <a:off x="418743" y="2007989"/>
            <a:ext cx="6750487" cy="191453"/>
          </a:xfrm>
          <a:prstGeom prst="rect">
            <a:avLst/>
          </a:prstGeom>
          <a:noFill/>
          <a:ln/>
        </p:spPr>
        <p:txBody>
          <a:bodyPr wrap="none" lIns="0" tIns="0" rIns="0" bIns="0" rtlCol="0" anchor="t"/>
          <a:lstStyle/>
          <a:p>
            <a:pPr marL="342900" indent="-342900" algn="l">
              <a:lnSpc>
                <a:spcPts val="1500"/>
              </a:lnSpc>
              <a:buSzPct val="100000"/>
              <a:buChar char="•"/>
            </a:pPr>
            <a:r>
              <a:rPr lang="en-US" dirty="0">
                <a:solidFill>
                  <a:srgbClr val="333F70"/>
                </a:solidFill>
                <a:latin typeface="Open Sans" pitchFamily="34" charset="0"/>
                <a:ea typeface="Open Sans" pitchFamily="34" charset="-122"/>
                <a:cs typeface="Open Sans" pitchFamily="34" charset="-120"/>
              </a:rPr>
              <a:t>Report viewing and download.</a:t>
            </a:r>
            <a:endParaRPr lang="en-US" dirty="0"/>
          </a:p>
        </p:txBody>
      </p:sp>
      <p:pic>
        <p:nvPicPr>
          <p:cNvPr id="8" name="Image 0" descr="preencoded.png"/>
          <p:cNvPicPr>
            <a:picLocks noChangeAspect="1"/>
          </p:cNvPicPr>
          <p:nvPr/>
        </p:nvPicPr>
        <p:blipFill>
          <a:blip r:embed="rId3"/>
          <a:stretch>
            <a:fillRect/>
          </a:stretch>
        </p:blipFill>
        <p:spPr>
          <a:xfrm>
            <a:off x="1" y="3184685"/>
            <a:ext cx="7468790" cy="5044916"/>
          </a:xfrm>
          <a:prstGeom prst="rect">
            <a:avLst/>
          </a:prstGeom>
        </p:spPr>
      </p:pic>
      <p:sp>
        <p:nvSpPr>
          <p:cNvPr id="9" name="Text 6"/>
          <p:cNvSpPr/>
          <p:nvPr/>
        </p:nvSpPr>
        <p:spPr>
          <a:xfrm>
            <a:off x="7468791" y="1001792"/>
            <a:ext cx="2368987" cy="186928"/>
          </a:xfrm>
          <a:prstGeom prst="rect">
            <a:avLst/>
          </a:prstGeom>
          <a:noFill/>
          <a:ln/>
        </p:spPr>
        <p:txBody>
          <a:bodyPr wrap="none" lIns="0" tIns="0" rIns="0" bIns="0" rtlCol="0" anchor="t"/>
          <a:lstStyle/>
          <a:p>
            <a:pPr marL="0" indent="0" algn="l">
              <a:lnSpc>
                <a:spcPts val="1450"/>
              </a:lnSpc>
              <a:buNone/>
            </a:pPr>
            <a:r>
              <a:rPr lang="en-US" sz="2800" b="1" dirty="0">
                <a:solidFill>
                  <a:srgbClr val="333F70"/>
                </a:solidFill>
                <a:latin typeface="Unbounded Bold" pitchFamily="34" charset="0"/>
                <a:ea typeface="Unbounded Bold" pitchFamily="34" charset="-122"/>
                <a:cs typeface="Unbounded Bold" pitchFamily="34" charset="-120"/>
              </a:rPr>
              <a:t>FER2013 (Facial Emotion)</a:t>
            </a:r>
            <a:endParaRPr lang="en-US" sz="2800" dirty="0"/>
          </a:p>
        </p:txBody>
      </p:sp>
      <p:sp>
        <p:nvSpPr>
          <p:cNvPr id="10" name="Text 7"/>
          <p:cNvSpPr/>
          <p:nvPr/>
        </p:nvSpPr>
        <p:spPr>
          <a:xfrm>
            <a:off x="7468791" y="1308259"/>
            <a:ext cx="6750487" cy="191453"/>
          </a:xfrm>
          <a:prstGeom prst="rect">
            <a:avLst/>
          </a:prstGeom>
          <a:noFill/>
          <a:ln/>
        </p:spPr>
        <p:txBody>
          <a:bodyPr wrap="none" lIns="0" tIns="0" rIns="0" bIns="0" rtlCol="0" anchor="t"/>
          <a:lstStyle/>
          <a:p>
            <a:pPr marL="342900" indent="-342900" algn="l">
              <a:lnSpc>
                <a:spcPts val="1500"/>
              </a:lnSpc>
              <a:buSzPct val="100000"/>
              <a:buChar char="•"/>
            </a:pPr>
            <a:r>
              <a:rPr lang="en-US" dirty="0">
                <a:solidFill>
                  <a:srgbClr val="333F70"/>
                </a:solidFill>
                <a:latin typeface="Open Sans" pitchFamily="34" charset="0"/>
                <a:ea typeface="Open Sans" pitchFamily="34" charset="-122"/>
                <a:cs typeface="Open Sans" pitchFamily="34" charset="-120"/>
              </a:rPr>
              <a:t>~35,887 facial images (48x48 grayscale).</a:t>
            </a:r>
            <a:endParaRPr lang="en-US" dirty="0"/>
          </a:p>
        </p:txBody>
      </p:sp>
      <p:sp>
        <p:nvSpPr>
          <p:cNvPr id="11" name="Text 8"/>
          <p:cNvSpPr/>
          <p:nvPr/>
        </p:nvSpPr>
        <p:spPr>
          <a:xfrm>
            <a:off x="7468791" y="1541502"/>
            <a:ext cx="6750487" cy="191453"/>
          </a:xfrm>
          <a:prstGeom prst="rect">
            <a:avLst/>
          </a:prstGeom>
          <a:noFill/>
          <a:ln/>
        </p:spPr>
        <p:txBody>
          <a:bodyPr wrap="none" lIns="0" tIns="0" rIns="0" bIns="0" rtlCol="0" anchor="t"/>
          <a:lstStyle/>
          <a:p>
            <a:pPr marL="342900" indent="-342900" algn="l">
              <a:lnSpc>
                <a:spcPts val="1500"/>
              </a:lnSpc>
              <a:buSzPct val="100000"/>
              <a:buChar char="•"/>
            </a:pPr>
            <a:r>
              <a:rPr lang="en-US" dirty="0">
                <a:solidFill>
                  <a:srgbClr val="333F70"/>
                </a:solidFill>
                <a:latin typeface="Open Sans" pitchFamily="34" charset="0"/>
                <a:ea typeface="Open Sans" pitchFamily="34" charset="-122"/>
                <a:cs typeface="Open Sans" pitchFamily="34" charset="-120"/>
              </a:rPr>
              <a:t>7 target emotion classes.</a:t>
            </a:r>
            <a:endParaRPr lang="en-US" dirty="0"/>
          </a:p>
        </p:txBody>
      </p:sp>
      <p:sp>
        <p:nvSpPr>
          <p:cNvPr id="12" name="Text 9"/>
          <p:cNvSpPr/>
          <p:nvPr/>
        </p:nvSpPr>
        <p:spPr>
          <a:xfrm>
            <a:off x="7468791" y="1774746"/>
            <a:ext cx="6750487" cy="191453"/>
          </a:xfrm>
          <a:prstGeom prst="rect">
            <a:avLst/>
          </a:prstGeom>
          <a:noFill/>
          <a:ln/>
        </p:spPr>
        <p:txBody>
          <a:bodyPr wrap="none" lIns="0" tIns="0" rIns="0" bIns="0" rtlCol="0" anchor="t"/>
          <a:lstStyle/>
          <a:p>
            <a:pPr marL="342900" indent="-342900" algn="l">
              <a:lnSpc>
                <a:spcPts val="1500"/>
              </a:lnSpc>
              <a:buSzPct val="100000"/>
              <a:buChar char="•"/>
            </a:pPr>
            <a:r>
              <a:rPr lang="en-US" dirty="0">
                <a:solidFill>
                  <a:srgbClr val="333F70"/>
                </a:solidFill>
                <a:latin typeface="Open Sans" pitchFamily="34" charset="0"/>
                <a:ea typeface="Open Sans" pitchFamily="34" charset="-122"/>
                <a:cs typeface="Open Sans" pitchFamily="34" charset="-120"/>
              </a:rPr>
              <a:t>Captures facial muscle movements.</a:t>
            </a:r>
            <a:endParaRPr lang="en-US" dirty="0"/>
          </a:p>
        </p:txBody>
      </p:sp>
      <p:sp>
        <p:nvSpPr>
          <p:cNvPr id="13" name="Text 10"/>
          <p:cNvSpPr/>
          <p:nvPr/>
        </p:nvSpPr>
        <p:spPr>
          <a:xfrm>
            <a:off x="7468791" y="2085737"/>
            <a:ext cx="2564606" cy="186928"/>
          </a:xfrm>
          <a:prstGeom prst="rect">
            <a:avLst/>
          </a:prstGeom>
          <a:noFill/>
          <a:ln/>
        </p:spPr>
        <p:txBody>
          <a:bodyPr wrap="none" lIns="0" tIns="0" rIns="0" bIns="0" rtlCol="0" anchor="t"/>
          <a:lstStyle/>
          <a:p>
            <a:pPr marL="0" indent="0" algn="l">
              <a:lnSpc>
                <a:spcPts val="1450"/>
              </a:lnSpc>
              <a:buNone/>
            </a:pPr>
            <a:r>
              <a:rPr lang="en-US" sz="2800" b="1" dirty="0">
                <a:solidFill>
                  <a:srgbClr val="333F70"/>
                </a:solidFill>
                <a:latin typeface="Unbounded Bold" pitchFamily="34" charset="0"/>
                <a:ea typeface="Unbounded Bold" pitchFamily="34" charset="-122"/>
                <a:cs typeface="Unbounded Bold" pitchFamily="34" charset="-120"/>
              </a:rPr>
              <a:t>RAVDESS (Speech Emotion)</a:t>
            </a:r>
            <a:endParaRPr lang="en-US" sz="2800" dirty="0"/>
          </a:p>
        </p:txBody>
      </p:sp>
      <p:sp>
        <p:nvSpPr>
          <p:cNvPr id="14" name="Text 11"/>
          <p:cNvSpPr/>
          <p:nvPr/>
        </p:nvSpPr>
        <p:spPr>
          <a:xfrm>
            <a:off x="7468791" y="2392204"/>
            <a:ext cx="6750487" cy="191453"/>
          </a:xfrm>
          <a:prstGeom prst="rect">
            <a:avLst/>
          </a:prstGeom>
          <a:noFill/>
          <a:ln/>
        </p:spPr>
        <p:txBody>
          <a:bodyPr wrap="none" lIns="0" tIns="0" rIns="0" bIns="0" rtlCol="0" anchor="t"/>
          <a:lstStyle/>
          <a:p>
            <a:pPr marL="342900" indent="-342900" algn="l">
              <a:lnSpc>
                <a:spcPts val="1500"/>
              </a:lnSpc>
              <a:buSzPct val="100000"/>
              <a:buChar char="•"/>
            </a:pPr>
            <a:r>
              <a:rPr lang="en-US" dirty="0">
                <a:solidFill>
                  <a:srgbClr val="333F70"/>
                </a:solidFill>
                <a:latin typeface="Open Sans" pitchFamily="34" charset="0"/>
                <a:ea typeface="Open Sans" pitchFamily="34" charset="-122"/>
                <a:cs typeface="Open Sans" pitchFamily="34" charset="-120"/>
              </a:rPr>
              <a:t>7,356 audio files (16 kHz, 24 actors).</a:t>
            </a:r>
            <a:endParaRPr lang="en-US" dirty="0"/>
          </a:p>
        </p:txBody>
      </p:sp>
      <p:sp>
        <p:nvSpPr>
          <p:cNvPr id="15" name="Text 12"/>
          <p:cNvSpPr/>
          <p:nvPr/>
        </p:nvSpPr>
        <p:spPr>
          <a:xfrm>
            <a:off x="7468791" y="2625447"/>
            <a:ext cx="6750487" cy="191453"/>
          </a:xfrm>
          <a:prstGeom prst="rect">
            <a:avLst/>
          </a:prstGeom>
          <a:noFill/>
          <a:ln/>
        </p:spPr>
        <p:txBody>
          <a:bodyPr wrap="none" lIns="0" tIns="0" rIns="0" bIns="0" rtlCol="0" anchor="t"/>
          <a:lstStyle/>
          <a:p>
            <a:pPr marL="342900" indent="-342900" algn="l">
              <a:lnSpc>
                <a:spcPts val="1500"/>
              </a:lnSpc>
              <a:buSzPct val="100000"/>
              <a:buChar char="•"/>
            </a:pPr>
            <a:r>
              <a:rPr lang="en-US" dirty="0">
                <a:solidFill>
                  <a:srgbClr val="333F70"/>
                </a:solidFill>
                <a:latin typeface="Open Sans" pitchFamily="34" charset="0"/>
                <a:ea typeface="Open Sans" pitchFamily="34" charset="-122"/>
                <a:cs typeface="Open Sans" pitchFamily="34" charset="-120"/>
              </a:rPr>
              <a:t>8 emotion classes.</a:t>
            </a:r>
            <a:endParaRPr lang="en-US" dirty="0"/>
          </a:p>
        </p:txBody>
      </p:sp>
      <p:sp>
        <p:nvSpPr>
          <p:cNvPr id="16" name="Text 13"/>
          <p:cNvSpPr/>
          <p:nvPr/>
        </p:nvSpPr>
        <p:spPr>
          <a:xfrm>
            <a:off x="7468791" y="2858691"/>
            <a:ext cx="6750487" cy="191453"/>
          </a:xfrm>
          <a:prstGeom prst="rect">
            <a:avLst/>
          </a:prstGeom>
          <a:noFill/>
          <a:ln/>
        </p:spPr>
        <p:txBody>
          <a:bodyPr wrap="none" lIns="0" tIns="0" rIns="0" bIns="0" rtlCol="0" anchor="t"/>
          <a:lstStyle/>
          <a:p>
            <a:pPr marL="342900" indent="-342900" algn="l">
              <a:lnSpc>
                <a:spcPts val="1500"/>
              </a:lnSpc>
              <a:buSzPct val="100000"/>
              <a:buChar char="•"/>
            </a:pPr>
            <a:r>
              <a:rPr lang="en-US" dirty="0">
                <a:solidFill>
                  <a:srgbClr val="333F70"/>
                </a:solidFill>
                <a:latin typeface="Open Sans" pitchFamily="34" charset="0"/>
                <a:ea typeface="Open Sans" pitchFamily="34" charset="-122"/>
                <a:cs typeface="Open Sans" pitchFamily="34" charset="-120"/>
              </a:rPr>
              <a:t>Preserves emotional cues, pitch, and energy variations.</a:t>
            </a:r>
            <a:endParaRPr lang="en-US" dirty="0"/>
          </a:p>
        </p:txBody>
      </p:sp>
      <p:pic>
        <p:nvPicPr>
          <p:cNvPr id="17" name="Image 1" descr="preencoded.png"/>
          <p:cNvPicPr>
            <a:picLocks noChangeAspect="1"/>
          </p:cNvPicPr>
          <p:nvPr/>
        </p:nvPicPr>
        <p:blipFill>
          <a:blip r:embed="rId4"/>
          <a:stretch>
            <a:fillRect/>
          </a:stretch>
        </p:blipFill>
        <p:spPr>
          <a:xfrm>
            <a:off x="7468791" y="3184685"/>
            <a:ext cx="7161609" cy="50449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967859"/>
            <a:ext cx="12452509" cy="708779"/>
          </a:xfrm>
          <a:prstGeom prst="rect">
            <a:avLst/>
          </a:prstGeom>
          <a:noFill/>
          <a:ln/>
        </p:spPr>
        <p:txBody>
          <a:bodyPr wrap="none" lIns="0" tIns="0" rIns="0" bIns="0" rtlCol="0" anchor="t"/>
          <a:lstStyle/>
          <a:p>
            <a:pPr marL="0" indent="0" algn="l">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AI Models: Algorithms &amp; Evaluation</a:t>
            </a:r>
            <a:endParaRPr lang="en-US" sz="4450" dirty="0"/>
          </a:p>
        </p:txBody>
      </p:sp>
      <p:sp>
        <p:nvSpPr>
          <p:cNvPr id="3" name="Shape 1"/>
          <p:cNvSpPr/>
          <p:nvPr/>
        </p:nvSpPr>
        <p:spPr>
          <a:xfrm>
            <a:off x="793790" y="2130266"/>
            <a:ext cx="4196358" cy="2448044"/>
          </a:xfrm>
          <a:prstGeom prst="roundRect">
            <a:avLst>
              <a:gd name="adj" fmla="val 5976"/>
            </a:avLst>
          </a:prstGeom>
          <a:solidFill>
            <a:srgbClr val="FFFFFF"/>
          </a:solidFill>
          <a:ln w="30480">
            <a:solidFill>
              <a:srgbClr val="BCDBD4"/>
            </a:solidFill>
            <a:prstDash val="solid"/>
          </a:ln>
        </p:spPr>
      </p:sp>
      <p:sp>
        <p:nvSpPr>
          <p:cNvPr id="4" name="Shape 2"/>
          <p:cNvSpPr/>
          <p:nvPr/>
        </p:nvSpPr>
        <p:spPr>
          <a:xfrm>
            <a:off x="763310" y="2130266"/>
            <a:ext cx="121920" cy="2448044"/>
          </a:xfrm>
          <a:prstGeom prst="roundRect">
            <a:avLst>
              <a:gd name="adj" fmla="val 78139"/>
            </a:avLst>
          </a:prstGeom>
          <a:solidFill>
            <a:srgbClr val="26A688"/>
          </a:solidFill>
          <a:ln/>
        </p:spPr>
      </p:sp>
      <p:sp>
        <p:nvSpPr>
          <p:cNvPr id="5" name="Text 3"/>
          <p:cNvSpPr/>
          <p:nvPr/>
        </p:nvSpPr>
        <p:spPr>
          <a:xfrm>
            <a:off x="1142524" y="2387560"/>
            <a:ext cx="3590330" cy="708660"/>
          </a:xfrm>
          <a:prstGeom prst="rect">
            <a:avLst/>
          </a:prstGeom>
          <a:noFill/>
          <a:ln/>
        </p:spPr>
        <p:txBody>
          <a:bodyPr wrap="square" lIns="0" tIns="0" rIns="0" bIns="0" rtlCol="0" anchor="t"/>
          <a:lstStyle/>
          <a:p>
            <a:pPr marL="0" indent="0" algn="l">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Facial Emotion Recognition</a:t>
            </a:r>
            <a:endParaRPr lang="en-US" sz="2200" dirty="0"/>
          </a:p>
        </p:txBody>
      </p:sp>
      <p:sp>
        <p:nvSpPr>
          <p:cNvPr id="6" name="Text 4"/>
          <p:cNvSpPr/>
          <p:nvPr/>
        </p:nvSpPr>
        <p:spPr>
          <a:xfrm>
            <a:off x="1142524" y="3232309"/>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CNN for multi-class classification (7 emotions), using Softmax activation.</a:t>
            </a:r>
            <a:endParaRPr lang="en-US" sz="1750" dirty="0"/>
          </a:p>
        </p:txBody>
      </p:sp>
      <p:sp>
        <p:nvSpPr>
          <p:cNvPr id="7" name="Shape 5"/>
          <p:cNvSpPr/>
          <p:nvPr/>
        </p:nvSpPr>
        <p:spPr>
          <a:xfrm>
            <a:off x="5216962" y="2130266"/>
            <a:ext cx="4196358" cy="2448044"/>
          </a:xfrm>
          <a:prstGeom prst="roundRect">
            <a:avLst>
              <a:gd name="adj" fmla="val 5976"/>
            </a:avLst>
          </a:prstGeom>
          <a:solidFill>
            <a:srgbClr val="FFFFFF"/>
          </a:solidFill>
          <a:ln w="30480">
            <a:solidFill>
              <a:srgbClr val="BCDBD4"/>
            </a:solidFill>
            <a:prstDash val="solid"/>
          </a:ln>
        </p:spPr>
      </p:sp>
      <p:sp>
        <p:nvSpPr>
          <p:cNvPr id="8" name="Shape 6"/>
          <p:cNvSpPr/>
          <p:nvPr/>
        </p:nvSpPr>
        <p:spPr>
          <a:xfrm>
            <a:off x="5186482" y="2130266"/>
            <a:ext cx="121920" cy="2448044"/>
          </a:xfrm>
          <a:prstGeom prst="roundRect">
            <a:avLst>
              <a:gd name="adj" fmla="val 78139"/>
            </a:avLst>
          </a:prstGeom>
          <a:solidFill>
            <a:srgbClr val="26A688"/>
          </a:solidFill>
          <a:ln/>
        </p:spPr>
      </p:sp>
      <p:sp>
        <p:nvSpPr>
          <p:cNvPr id="9" name="Text 7"/>
          <p:cNvSpPr/>
          <p:nvPr/>
        </p:nvSpPr>
        <p:spPr>
          <a:xfrm>
            <a:off x="5565696" y="2387560"/>
            <a:ext cx="3590330" cy="708660"/>
          </a:xfrm>
          <a:prstGeom prst="rect">
            <a:avLst/>
          </a:prstGeom>
          <a:noFill/>
          <a:ln/>
        </p:spPr>
        <p:txBody>
          <a:bodyPr wrap="square" lIns="0" tIns="0" rIns="0" bIns="0" rtlCol="0" anchor="t"/>
          <a:lstStyle/>
          <a:p>
            <a:pPr marL="0" indent="0" algn="l">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Speech Emotion Recognition</a:t>
            </a:r>
            <a:endParaRPr lang="en-US" sz="2200" dirty="0"/>
          </a:p>
        </p:txBody>
      </p:sp>
      <p:sp>
        <p:nvSpPr>
          <p:cNvPr id="10" name="Text 8"/>
          <p:cNvSpPr/>
          <p:nvPr/>
        </p:nvSpPr>
        <p:spPr>
          <a:xfrm>
            <a:off x="5565696" y="3232309"/>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Transformer-based (Wav2Vec2) for multi-class classification, HuggingFace pre-trained.</a:t>
            </a:r>
            <a:endParaRPr lang="en-US" sz="1750" dirty="0"/>
          </a:p>
        </p:txBody>
      </p:sp>
      <p:sp>
        <p:nvSpPr>
          <p:cNvPr id="11" name="Shape 9"/>
          <p:cNvSpPr/>
          <p:nvPr/>
        </p:nvSpPr>
        <p:spPr>
          <a:xfrm>
            <a:off x="9640133" y="2130266"/>
            <a:ext cx="4196358" cy="2448044"/>
          </a:xfrm>
          <a:prstGeom prst="roundRect">
            <a:avLst>
              <a:gd name="adj" fmla="val 5976"/>
            </a:avLst>
          </a:prstGeom>
          <a:solidFill>
            <a:srgbClr val="FFFFFF"/>
          </a:solidFill>
          <a:ln w="30480">
            <a:solidFill>
              <a:srgbClr val="BCDBD4"/>
            </a:solidFill>
            <a:prstDash val="solid"/>
          </a:ln>
        </p:spPr>
      </p:sp>
      <p:sp>
        <p:nvSpPr>
          <p:cNvPr id="12" name="Shape 10"/>
          <p:cNvSpPr/>
          <p:nvPr/>
        </p:nvSpPr>
        <p:spPr>
          <a:xfrm>
            <a:off x="9609653" y="2130266"/>
            <a:ext cx="121920" cy="2448044"/>
          </a:xfrm>
          <a:prstGeom prst="roundRect">
            <a:avLst>
              <a:gd name="adj" fmla="val 78139"/>
            </a:avLst>
          </a:prstGeom>
          <a:solidFill>
            <a:srgbClr val="26A688"/>
          </a:solidFill>
          <a:ln/>
        </p:spPr>
      </p:sp>
      <p:sp>
        <p:nvSpPr>
          <p:cNvPr id="13" name="Text 11"/>
          <p:cNvSpPr/>
          <p:nvPr/>
        </p:nvSpPr>
        <p:spPr>
          <a:xfrm>
            <a:off x="9988868" y="2387560"/>
            <a:ext cx="3590330" cy="708660"/>
          </a:xfrm>
          <a:prstGeom prst="rect">
            <a:avLst/>
          </a:prstGeom>
          <a:noFill/>
          <a:ln/>
        </p:spPr>
        <p:txBody>
          <a:bodyPr wrap="square" lIns="0" tIns="0" rIns="0" bIns="0" rtlCol="0" anchor="t"/>
          <a:lstStyle/>
          <a:p>
            <a:pPr marL="0" indent="0" algn="l">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Multimodal Fusion Logic</a:t>
            </a:r>
            <a:endParaRPr lang="en-US" sz="2200" dirty="0"/>
          </a:p>
        </p:txBody>
      </p:sp>
      <p:sp>
        <p:nvSpPr>
          <p:cNvPr id="14" name="Text 12"/>
          <p:cNvSpPr/>
          <p:nvPr/>
        </p:nvSpPr>
        <p:spPr>
          <a:xfrm>
            <a:off x="9988868" y="3232309"/>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Weighted decision-level fusion: 40% Face, 35% Speech, 15% Eye Contact, 10% Vocal Confidence.</a:t>
            </a:r>
            <a:endParaRPr lang="en-US" sz="1750" dirty="0"/>
          </a:p>
        </p:txBody>
      </p:sp>
      <p:sp>
        <p:nvSpPr>
          <p:cNvPr id="15" name="Shape 13"/>
          <p:cNvSpPr/>
          <p:nvPr/>
        </p:nvSpPr>
        <p:spPr>
          <a:xfrm>
            <a:off x="793790" y="4805124"/>
            <a:ext cx="4196358" cy="2456617"/>
          </a:xfrm>
          <a:prstGeom prst="roundRect">
            <a:avLst>
              <a:gd name="adj" fmla="val 5956"/>
            </a:avLst>
          </a:prstGeom>
          <a:solidFill>
            <a:srgbClr val="FFFFFF"/>
          </a:solidFill>
          <a:ln w="30480">
            <a:solidFill>
              <a:srgbClr val="BCDBD4"/>
            </a:solidFill>
            <a:prstDash val="solid"/>
          </a:ln>
        </p:spPr>
      </p:sp>
      <p:sp>
        <p:nvSpPr>
          <p:cNvPr id="16" name="Shape 14"/>
          <p:cNvSpPr/>
          <p:nvPr/>
        </p:nvSpPr>
        <p:spPr>
          <a:xfrm>
            <a:off x="763310" y="4805124"/>
            <a:ext cx="121920" cy="2456617"/>
          </a:xfrm>
          <a:prstGeom prst="roundRect">
            <a:avLst>
              <a:gd name="adj" fmla="val 78139"/>
            </a:avLst>
          </a:prstGeom>
          <a:solidFill>
            <a:srgbClr val="26A688"/>
          </a:solidFill>
          <a:ln/>
        </p:spPr>
      </p:sp>
      <p:sp>
        <p:nvSpPr>
          <p:cNvPr id="17" name="Text 15"/>
          <p:cNvSpPr/>
          <p:nvPr/>
        </p:nvSpPr>
        <p:spPr>
          <a:xfrm>
            <a:off x="1142524" y="5062418"/>
            <a:ext cx="3174563" cy="354330"/>
          </a:xfrm>
          <a:prstGeom prst="rect">
            <a:avLst/>
          </a:prstGeom>
          <a:noFill/>
          <a:ln/>
        </p:spPr>
        <p:txBody>
          <a:bodyPr wrap="none" lIns="0" tIns="0" rIns="0" bIns="0" rtlCol="0" anchor="t"/>
          <a:lstStyle/>
          <a:p>
            <a:pPr marL="0" indent="0" algn="l">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Training &amp; Testing</a:t>
            </a:r>
            <a:endParaRPr lang="en-US" sz="2200" dirty="0"/>
          </a:p>
        </p:txBody>
      </p:sp>
      <p:sp>
        <p:nvSpPr>
          <p:cNvPr id="18" name="Text 16"/>
          <p:cNvSpPr/>
          <p:nvPr/>
        </p:nvSpPr>
        <p:spPr>
          <a:xfrm>
            <a:off x="1142524" y="5552837"/>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Pre-trained models on FER2013 and RAVDESS (80/20 split). No additional training needed.</a:t>
            </a:r>
            <a:endParaRPr lang="en-US" sz="1750" dirty="0"/>
          </a:p>
        </p:txBody>
      </p:sp>
      <p:sp>
        <p:nvSpPr>
          <p:cNvPr id="19" name="Shape 17"/>
          <p:cNvSpPr/>
          <p:nvPr/>
        </p:nvSpPr>
        <p:spPr>
          <a:xfrm>
            <a:off x="5216962" y="4805124"/>
            <a:ext cx="4196358" cy="2456617"/>
          </a:xfrm>
          <a:prstGeom prst="roundRect">
            <a:avLst>
              <a:gd name="adj" fmla="val 5956"/>
            </a:avLst>
          </a:prstGeom>
          <a:solidFill>
            <a:srgbClr val="FFFFFF"/>
          </a:solidFill>
          <a:ln w="30480">
            <a:solidFill>
              <a:srgbClr val="BCDBD4"/>
            </a:solidFill>
            <a:prstDash val="solid"/>
          </a:ln>
        </p:spPr>
      </p:sp>
      <p:sp>
        <p:nvSpPr>
          <p:cNvPr id="20" name="Shape 18"/>
          <p:cNvSpPr/>
          <p:nvPr/>
        </p:nvSpPr>
        <p:spPr>
          <a:xfrm>
            <a:off x="5186482" y="4805124"/>
            <a:ext cx="121920" cy="2456617"/>
          </a:xfrm>
          <a:prstGeom prst="roundRect">
            <a:avLst>
              <a:gd name="adj" fmla="val 78139"/>
            </a:avLst>
          </a:prstGeom>
          <a:solidFill>
            <a:srgbClr val="26A688"/>
          </a:solidFill>
          <a:ln/>
        </p:spPr>
      </p:sp>
      <p:sp>
        <p:nvSpPr>
          <p:cNvPr id="21" name="Text 19"/>
          <p:cNvSpPr/>
          <p:nvPr/>
        </p:nvSpPr>
        <p:spPr>
          <a:xfrm>
            <a:off x="5565696" y="5062418"/>
            <a:ext cx="3380899" cy="354330"/>
          </a:xfrm>
          <a:prstGeom prst="rect">
            <a:avLst/>
          </a:prstGeom>
          <a:noFill/>
          <a:ln/>
        </p:spPr>
        <p:txBody>
          <a:bodyPr wrap="none" lIns="0" tIns="0" rIns="0" bIns="0" rtlCol="0" anchor="t"/>
          <a:lstStyle/>
          <a:p>
            <a:pPr marL="0" indent="0" algn="l">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Evaluation Metrics</a:t>
            </a:r>
            <a:endParaRPr lang="en-US" sz="2200" dirty="0"/>
          </a:p>
        </p:txBody>
      </p:sp>
      <p:sp>
        <p:nvSpPr>
          <p:cNvPr id="22" name="Text 20"/>
          <p:cNvSpPr/>
          <p:nvPr/>
        </p:nvSpPr>
        <p:spPr>
          <a:xfrm>
            <a:off x="5565696" y="5552837"/>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Accuracy, Precision, Recall, F1-Score. Also, average confidence and dominant emotion frequency.</a:t>
            </a:r>
            <a:endParaRPr lang="en-US" sz="1750" dirty="0"/>
          </a:p>
        </p:txBody>
      </p:sp>
      <p:pic>
        <p:nvPicPr>
          <p:cNvPr id="24" name="Picture 23">
            <a:extLst>
              <a:ext uri="{FF2B5EF4-FFF2-40B4-BE49-F238E27FC236}">
                <a16:creationId xmlns:a16="http://schemas.microsoft.com/office/drawing/2014/main" id="{774C546D-1A34-478D-B6A4-E1A6E738A458}"/>
              </a:ext>
            </a:extLst>
          </p:cNvPr>
          <p:cNvPicPr>
            <a:picLocks noChangeAspect="1"/>
          </p:cNvPicPr>
          <p:nvPr/>
        </p:nvPicPr>
        <p:blipFill>
          <a:blip r:embed="rId3"/>
          <a:stretch>
            <a:fillRect/>
          </a:stretch>
        </p:blipFill>
        <p:spPr>
          <a:xfrm>
            <a:off x="11649075" y="7500937"/>
            <a:ext cx="2943225" cy="6191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71143" y="577810"/>
            <a:ext cx="5326499" cy="509945"/>
          </a:xfrm>
          <a:prstGeom prst="rect">
            <a:avLst/>
          </a:prstGeom>
          <a:noFill/>
          <a:ln/>
        </p:spPr>
        <p:txBody>
          <a:bodyPr wrap="none" lIns="0" tIns="0" rIns="0" bIns="0" rtlCol="0" anchor="t"/>
          <a:lstStyle/>
          <a:p>
            <a:pPr marL="0" indent="0" algn="l">
              <a:lnSpc>
                <a:spcPts val="4000"/>
              </a:lnSpc>
              <a:buNone/>
            </a:pPr>
            <a:r>
              <a:rPr lang="en-US" sz="4000" b="1" dirty="0">
                <a:solidFill>
                  <a:srgbClr val="333F70"/>
                </a:solidFill>
                <a:latin typeface="Unbounded Bold" pitchFamily="34" charset="0"/>
                <a:ea typeface="Unbounded Bold" pitchFamily="34" charset="-122"/>
                <a:cs typeface="Unbounded Bold" pitchFamily="34" charset="-120"/>
              </a:rPr>
              <a:t>Results &amp; Discussion</a:t>
            </a:r>
            <a:endParaRPr lang="en-US" sz="4000" dirty="0"/>
          </a:p>
        </p:txBody>
      </p:sp>
      <p:sp>
        <p:nvSpPr>
          <p:cNvPr id="4" name="Text 1"/>
          <p:cNvSpPr/>
          <p:nvPr/>
        </p:nvSpPr>
        <p:spPr>
          <a:xfrm>
            <a:off x="571143" y="1495663"/>
            <a:ext cx="2732246" cy="255032"/>
          </a:xfrm>
          <a:prstGeom prst="rect">
            <a:avLst/>
          </a:prstGeom>
          <a:noFill/>
          <a:ln/>
        </p:spPr>
        <p:txBody>
          <a:bodyPr wrap="none" lIns="0" tIns="0" rIns="0" bIns="0" rtlCol="0" anchor="t"/>
          <a:lstStyle/>
          <a:p>
            <a:pPr marL="0" indent="0" algn="l">
              <a:lnSpc>
                <a:spcPts val="2000"/>
              </a:lnSpc>
              <a:buNone/>
            </a:pPr>
            <a:r>
              <a:rPr lang="en-US" sz="2000" b="1" dirty="0">
                <a:solidFill>
                  <a:srgbClr val="333F70"/>
                </a:solidFill>
                <a:latin typeface="Unbounded Bold" pitchFamily="34" charset="0"/>
                <a:ea typeface="Unbounded Bold" pitchFamily="34" charset="-122"/>
                <a:cs typeface="Unbounded Bold" pitchFamily="34" charset="-120"/>
              </a:rPr>
              <a:t>System Performance</a:t>
            </a:r>
            <a:endParaRPr lang="en-US" sz="2000" dirty="0"/>
          </a:p>
        </p:txBody>
      </p:sp>
      <p:sp>
        <p:nvSpPr>
          <p:cNvPr id="5" name="Text 2"/>
          <p:cNvSpPr/>
          <p:nvPr/>
        </p:nvSpPr>
        <p:spPr>
          <a:xfrm>
            <a:off x="571143" y="1913811"/>
            <a:ext cx="3801785" cy="261104"/>
          </a:xfrm>
          <a:prstGeom prst="rect">
            <a:avLst/>
          </a:prstGeom>
          <a:noFill/>
          <a:ln/>
        </p:spPr>
        <p:txBody>
          <a:bodyPr wrap="none" lIns="0" tIns="0" rIns="0" bIns="0" rtlCol="0" anchor="t"/>
          <a:lstStyle/>
          <a:p>
            <a:pPr marL="342900" indent="-342900" algn="l">
              <a:lnSpc>
                <a:spcPts val="2050"/>
              </a:lnSpc>
              <a:buSzPct val="100000"/>
              <a:buChar char="•"/>
            </a:pPr>
            <a:r>
              <a:rPr lang="en-US" sz="1600" dirty="0">
                <a:solidFill>
                  <a:srgbClr val="333F70"/>
                </a:solidFill>
                <a:latin typeface="Open Sans" pitchFamily="34" charset="0"/>
                <a:ea typeface="Open Sans" pitchFamily="34" charset="-122"/>
                <a:cs typeface="Open Sans" pitchFamily="34" charset="-120"/>
              </a:rPr>
              <a:t>Video Processing: 30 FPS.</a:t>
            </a:r>
            <a:endParaRPr lang="en-US" sz="1600" dirty="0"/>
          </a:p>
        </p:txBody>
      </p:sp>
      <p:sp>
        <p:nvSpPr>
          <p:cNvPr id="6" name="Text 3"/>
          <p:cNvSpPr/>
          <p:nvPr/>
        </p:nvSpPr>
        <p:spPr>
          <a:xfrm>
            <a:off x="571143" y="2231946"/>
            <a:ext cx="3801785" cy="261104"/>
          </a:xfrm>
          <a:prstGeom prst="rect">
            <a:avLst/>
          </a:prstGeom>
          <a:noFill/>
          <a:ln/>
        </p:spPr>
        <p:txBody>
          <a:bodyPr wrap="none" lIns="0" tIns="0" rIns="0" bIns="0" rtlCol="0" anchor="t"/>
          <a:lstStyle/>
          <a:p>
            <a:pPr marL="342900" indent="-342900" algn="l">
              <a:lnSpc>
                <a:spcPts val="2050"/>
              </a:lnSpc>
              <a:buSzPct val="100000"/>
              <a:buChar char="•"/>
            </a:pPr>
            <a:r>
              <a:rPr lang="en-US" sz="1600" dirty="0">
                <a:solidFill>
                  <a:srgbClr val="333F70"/>
                </a:solidFill>
                <a:latin typeface="Open Sans" pitchFamily="34" charset="0"/>
                <a:ea typeface="Open Sans" pitchFamily="34" charset="-122"/>
                <a:cs typeface="Open Sans" pitchFamily="34" charset="-120"/>
              </a:rPr>
              <a:t>Audio Analysis: 3-second chunks in 500ms.</a:t>
            </a:r>
            <a:endParaRPr lang="en-US" sz="1600" dirty="0"/>
          </a:p>
        </p:txBody>
      </p:sp>
      <p:sp>
        <p:nvSpPr>
          <p:cNvPr id="7" name="Text 4"/>
          <p:cNvSpPr/>
          <p:nvPr/>
        </p:nvSpPr>
        <p:spPr>
          <a:xfrm>
            <a:off x="571143" y="2550081"/>
            <a:ext cx="3801785" cy="261104"/>
          </a:xfrm>
          <a:prstGeom prst="rect">
            <a:avLst/>
          </a:prstGeom>
          <a:noFill/>
          <a:ln/>
        </p:spPr>
        <p:txBody>
          <a:bodyPr wrap="none" lIns="0" tIns="0" rIns="0" bIns="0" rtlCol="0" anchor="t"/>
          <a:lstStyle/>
          <a:p>
            <a:pPr marL="342900" indent="-342900" algn="l">
              <a:lnSpc>
                <a:spcPts val="2050"/>
              </a:lnSpc>
              <a:buSzPct val="100000"/>
              <a:buChar char="•"/>
            </a:pPr>
            <a:r>
              <a:rPr lang="en-US" sz="1600" dirty="0">
                <a:solidFill>
                  <a:srgbClr val="333F70"/>
                </a:solidFill>
                <a:latin typeface="Open Sans" pitchFamily="34" charset="0"/>
                <a:ea typeface="Open Sans" pitchFamily="34" charset="-122"/>
                <a:cs typeface="Open Sans" pitchFamily="34" charset="-120"/>
              </a:rPr>
              <a:t>Report Generation: Instant JSON output.</a:t>
            </a:r>
            <a:endParaRPr lang="en-US" sz="1600" dirty="0"/>
          </a:p>
        </p:txBody>
      </p:sp>
      <p:sp>
        <p:nvSpPr>
          <p:cNvPr id="8" name="Text 5"/>
          <p:cNvSpPr/>
          <p:nvPr/>
        </p:nvSpPr>
        <p:spPr>
          <a:xfrm>
            <a:off x="571143" y="2974300"/>
            <a:ext cx="2040136" cy="255032"/>
          </a:xfrm>
          <a:prstGeom prst="rect">
            <a:avLst/>
          </a:prstGeom>
          <a:noFill/>
          <a:ln/>
        </p:spPr>
        <p:txBody>
          <a:bodyPr wrap="none" lIns="0" tIns="0" rIns="0" bIns="0" rtlCol="0" anchor="t"/>
          <a:lstStyle/>
          <a:p>
            <a:pPr marL="0" indent="0" algn="l">
              <a:lnSpc>
                <a:spcPts val="2000"/>
              </a:lnSpc>
              <a:buNone/>
            </a:pPr>
            <a:r>
              <a:rPr lang="en-US" sz="2000" b="1" dirty="0">
                <a:solidFill>
                  <a:srgbClr val="333F70"/>
                </a:solidFill>
                <a:latin typeface="Unbounded Bold" pitchFamily="34" charset="0"/>
                <a:ea typeface="Unbounded Bold" pitchFamily="34" charset="-122"/>
                <a:cs typeface="Unbounded Bold" pitchFamily="34" charset="-120"/>
              </a:rPr>
              <a:t>Strengths</a:t>
            </a:r>
            <a:endParaRPr lang="en-US" sz="2000" dirty="0"/>
          </a:p>
        </p:txBody>
      </p:sp>
      <p:sp>
        <p:nvSpPr>
          <p:cNvPr id="9" name="Text 6"/>
          <p:cNvSpPr/>
          <p:nvPr/>
        </p:nvSpPr>
        <p:spPr>
          <a:xfrm>
            <a:off x="571143" y="3392448"/>
            <a:ext cx="3801785" cy="261104"/>
          </a:xfrm>
          <a:prstGeom prst="rect">
            <a:avLst/>
          </a:prstGeom>
          <a:noFill/>
          <a:ln/>
        </p:spPr>
        <p:txBody>
          <a:bodyPr wrap="none" lIns="0" tIns="0" rIns="0" bIns="0" rtlCol="0" anchor="t"/>
          <a:lstStyle/>
          <a:p>
            <a:pPr marL="342900" indent="-342900" algn="l">
              <a:lnSpc>
                <a:spcPts val="2050"/>
              </a:lnSpc>
              <a:buSzPct val="100000"/>
              <a:buChar char="•"/>
            </a:pPr>
            <a:r>
              <a:rPr lang="en-US" sz="1600" dirty="0">
                <a:solidFill>
                  <a:srgbClr val="333F70"/>
                </a:solidFill>
                <a:latin typeface="Open Sans" pitchFamily="34" charset="0"/>
                <a:ea typeface="Open Sans" pitchFamily="34" charset="-122"/>
                <a:cs typeface="Open Sans" pitchFamily="34" charset="-120"/>
              </a:rPr>
              <a:t>Multimodal analysis for robust assessment.</a:t>
            </a:r>
            <a:endParaRPr lang="en-US" sz="1600" dirty="0"/>
          </a:p>
        </p:txBody>
      </p:sp>
      <p:sp>
        <p:nvSpPr>
          <p:cNvPr id="10" name="Text 7"/>
          <p:cNvSpPr/>
          <p:nvPr/>
        </p:nvSpPr>
        <p:spPr>
          <a:xfrm>
            <a:off x="571143" y="3710583"/>
            <a:ext cx="3801785" cy="522208"/>
          </a:xfrm>
          <a:prstGeom prst="rect">
            <a:avLst/>
          </a:prstGeom>
          <a:noFill/>
          <a:ln/>
        </p:spPr>
        <p:txBody>
          <a:bodyPr wrap="square" lIns="0" tIns="0" rIns="0" bIns="0" rtlCol="0" anchor="t"/>
          <a:lstStyle/>
          <a:p>
            <a:pPr marL="342900" indent="-342900" algn="l">
              <a:lnSpc>
                <a:spcPts val="2050"/>
              </a:lnSpc>
              <a:buSzPct val="100000"/>
              <a:buChar char="•"/>
            </a:pPr>
            <a:r>
              <a:rPr lang="en-US" sz="1600" dirty="0">
                <a:solidFill>
                  <a:srgbClr val="333F70"/>
                </a:solidFill>
                <a:latin typeface="Open Sans" pitchFamily="34" charset="0"/>
                <a:ea typeface="Open Sans" pitchFamily="34" charset="-122"/>
                <a:cs typeface="Open Sans" pitchFamily="34" charset="-120"/>
              </a:rPr>
              <a:t>Real-time feedback and actionable recommendations.</a:t>
            </a:r>
            <a:endParaRPr lang="en-US" sz="1600" dirty="0"/>
          </a:p>
        </p:txBody>
      </p:sp>
      <p:sp>
        <p:nvSpPr>
          <p:cNvPr id="11" name="Text 8"/>
          <p:cNvSpPr/>
          <p:nvPr/>
        </p:nvSpPr>
        <p:spPr>
          <a:xfrm>
            <a:off x="571143" y="4289822"/>
            <a:ext cx="3801785" cy="261104"/>
          </a:xfrm>
          <a:prstGeom prst="rect">
            <a:avLst/>
          </a:prstGeom>
          <a:noFill/>
          <a:ln/>
        </p:spPr>
        <p:txBody>
          <a:bodyPr wrap="none" lIns="0" tIns="0" rIns="0" bIns="0" rtlCol="0" anchor="t"/>
          <a:lstStyle/>
          <a:p>
            <a:pPr marL="342900" indent="-342900" algn="l">
              <a:lnSpc>
                <a:spcPts val="2050"/>
              </a:lnSpc>
              <a:buSzPct val="100000"/>
              <a:buChar char="•"/>
            </a:pPr>
            <a:r>
              <a:rPr lang="en-US" sz="1600" dirty="0">
                <a:solidFill>
                  <a:srgbClr val="333F70"/>
                </a:solidFill>
                <a:latin typeface="Open Sans" pitchFamily="34" charset="0"/>
                <a:ea typeface="Open Sans" pitchFamily="34" charset="-122"/>
                <a:cs typeface="Open Sans" pitchFamily="34" charset="-120"/>
              </a:rPr>
              <a:t>Modular architecture, open-source models.</a:t>
            </a:r>
            <a:endParaRPr lang="en-US" sz="1600" dirty="0"/>
          </a:p>
        </p:txBody>
      </p:sp>
      <p:sp>
        <p:nvSpPr>
          <p:cNvPr id="12" name="Text 9"/>
          <p:cNvSpPr/>
          <p:nvPr/>
        </p:nvSpPr>
        <p:spPr>
          <a:xfrm>
            <a:off x="4778693" y="1495663"/>
            <a:ext cx="2040136" cy="255032"/>
          </a:xfrm>
          <a:prstGeom prst="rect">
            <a:avLst/>
          </a:prstGeom>
          <a:noFill/>
          <a:ln/>
        </p:spPr>
        <p:txBody>
          <a:bodyPr wrap="none" lIns="0" tIns="0" rIns="0" bIns="0" rtlCol="0" anchor="t"/>
          <a:lstStyle/>
          <a:p>
            <a:pPr marL="0" indent="0" algn="l">
              <a:lnSpc>
                <a:spcPts val="2000"/>
              </a:lnSpc>
              <a:buNone/>
            </a:pPr>
            <a:r>
              <a:rPr lang="en-US" sz="2000" b="1" dirty="0">
                <a:solidFill>
                  <a:srgbClr val="333F70"/>
                </a:solidFill>
                <a:latin typeface="Unbounded Bold" pitchFamily="34" charset="0"/>
                <a:ea typeface="Unbounded Bold" pitchFamily="34" charset="-122"/>
                <a:cs typeface="Unbounded Bold" pitchFamily="34" charset="-120"/>
              </a:rPr>
              <a:t>Sample Output</a:t>
            </a:r>
            <a:endParaRPr lang="en-US" sz="2000" dirty="0"/>
          </a:p>
        </p:txBody>
      </p:sp>
      <p:sp>
        <p:nvSpPr>
          <p:cNvPr id="13" name="Shape 10"/>
          <p:cNvSpPr/>
          <p:nvPr/>
        </p:nvSpPr>
        <p:spPr>
          <a:xfrm>
            <a:off x="4778693" y="1934289"/>
            <a:ext cx="3801785" cy="4161353"/>
          </a:xfrm>
          <a:prstGeom prst="roundRect">
            <a:avLst>
              <a:gd name="adj" fmla="val 1803"/>
            </a:avLst>
          </a:prstGeom>
          <a:solidFill>
            <a:srgbClr val="F2F2F2"/>
          </a:solidFill>
          <a:ln/>
        </p:spPr>
      </p:sp>
      <p:sp>
        <p:nvSpPr>
          <p:cNvPr id="14" name="Shape 11"/>
          <p:cNvSpPr/>
          <p:nvPr/>
        </p:nvSpPr>
        <p:spPr>
          <a:xfrm>
            <a:off x="4770596" y="1934289"/>
            <a:ext cx="3817977" cy="4161353"/>
          </a:xfrm>
          <a:prstGeom prst="roundRect">
            <a:avLst>
              <a:gd name="adj" fmla="val 641"/>
            </a:avLst>
          </a:prstGeom>
          <a:solidFill>
            <a:srgbClr val="F2F2F2"/>
          </a:solidFill>
          <a:ln/>
        </p:spPr>
      </p:sp>
      <p:sp>
        <p:nvSpPr>
          <p:cNvPr id="15" name="Text 12"/>
          <p:cNvSpPr/>
          <p:nvPr/>
        </p:nvSpPr>
        <p:spPr>
          <a:xfrm>
            <a:off x="4933712" y="2056686"/>
            <a:ext cx="3491746" cy="3916561"/>
          </a:xfrm>
          <a:prstGeom prst="rect">
            <a:avLst/>
          </a:prstGeom>
          <a:noFill/>
          <a:ln/>
        </p:spPr>
        <p:txBody>
          <a:bodyPr wrap="square" lIns="0" tIns="0" rIns="0" bIns="0" rtlCol="0" anchor="t"/>
          <a:lstStyle/>
          <a:p>
            <a:pPr marL="0" indent="0" algn="l">
              <a:lnSpc>
                <a:spcPts val="2050"/>
              </a:lnSpc>
              <a:buNone/>
            </a:pPr>
            <a:r>
              <a:rPr lang="en-US" sz="1600" dirty="0">
                <a:solidFill>
                  <a:srgbClr val="333F70"/>
                </a:solidFill>
                <a:highlight>
                  <a:srgbClr val="F2F2F2"/>
                </a:highlight>
                <a:latin typeface="Consolas" pitchFamily="34" charset="0"/>
                <a:ea typeface="Consolas" pitchFamily="34" charset="-122"/>
                <a:cs typeface="Consolas" pitchFamily="34" charset="-120"/>
              </a:rPr>
              <a:t>{</a:t>
            </a:r>
            <a:endParaRPr lang="en-US" sz="1600" dirty="0"/>
          </a:p>
          <a:p>
            <a:pPr marL="0" indent="0" algn="l">
              <a:lnSpc>
                <a:spcPts val="2050"/>
              </a:lnSpc>
              <a:buNone/>
            </a:pPr>
            <a:r>
              <a:rPr lang="en-US" sz="1600" dirty="0">
                <a:solidFill>
                  <a:srgbClr val="333F70"/>
                </a:solidFill>
                <a:highlight>
                  <a:srgbClr val="F2F2F2"/>
                </a:highlight>
                <a:latin typeface="Consolas" pitchFamily="34" charset="0"/>
                <a:ea typeface="Consolas" pitchFamily="34" charset="-122"/>
                <a:cs typeface="Consolas" pitchFamily="34" charset="-120"/>
              </a:rPr>
              <a:t>  "scores": {</a:t>
            </a:r>
            <a:endParaRPr lang="en-US" sz="1600" dirty="0"/>
          </a:p>
          <a:p>
            <a:pPr marL="0" indent="0" algn="l">
              <a:lnSpc>
                <a:spcPts val="2050"/>
              </a:lnSpc>
              <a:buNone/>
            </a:pPr>
            <a:r>
              <a:rPr lang="en-US" sz="1600" dirty="0">
                <a:solidFill>
                  <a:srgbClr val="333F70"/>
                </a:solidFill>
                <a:highlight>
                  <a:srgbClr val="F2F2F2"/>
                </a:highlight>
                <a:latin typeface="Consolas" pitchFamily="34" charset="0"/>
                <a:ea typeface="Consolas" pitchFamily="34" charset="-122"/>
                <a:cs typeface="Consolas" pitchFamily="34" charset="-120"/>
              </a:rPr>
              <a:t>    "overall_score": 42.2,</a:t>
            </a:r>
            <a:endParaRPr lang="en-US" sz="1600" dirty="0"/>
          </a:p>
          <a:p>
            <a:pPr marL="0" indent="0" algn="l">
              <a:lnSpc>
                <a:spcPts val="2050"/>
              </a:lnSpc>
              <a:buNone/>
            </a:pPr>
            <a:r>
              <a:rPr lang="en-US" sz="1600" dirty="0">
                <a:solidFill>
                  <a:srgbClr val="333F70"/>
                </a:solidFill>
                <a:highlight>
                  <a:srgbClr val="F2F2F2"/>
                </a:highlight>
                <a:latin typeface="Consolas" pitchFamily="34" charset="0"/>
                <a:ea typeface="Consolas" pitchFamily="34" charset="-122"/>
                <a:cs typeface="Consolas" pitchFamily="34" charset="-120"/>
              </a:rPr>
              <a:t>    "rating": "Below Average"</a:t>
            </a:r>
            <a:endParaRPr lang="en-US" sz="1600" dirty="0"/>
          </a:p>
          <a:p>
            <a:pPr marL="0" indent="0" algn="l">
              <a:lnSpc>
                <a:spcPts val="2050"/>
              </a:lnSpc>
              <a:buNone/>
            </a:pPr>
            <a:r>
              <a:rPr lang="en-US" sz="1600" dirty="0">
                <a:solidFill>
                  <a:srgbClr val="333F70"/>
                </a:solidFill>
                <a:highlight>
                  <a:srgbClr val="F2F2F2"/>
                </a:highlight>
                <a:latin typeface="Consolas" pitchFamily="34" charset="0"/>
                <a:ea typeface="Consolas" pitchFamily="34" charset="-122"/>
                <a:cs typeface="Consolas" pitchFamily="34" charset="-120"/>
              </a:rPr>
              <a:t>  },</a:t>
            </a:r>
            <a:endParaRPr lang="en-US" sz="1600" dirty="0"/>
          </a:p>
          <a:p>
            <a:pPr marL="0" indent="0" algn="l">
              <a:lnSpc>
                <a:spcPts val="2050"/>
              </a:lnSpc>
              <a:buNone/>
            </a:pPr>
            <a:r>
              <a:rPr lang="en-US" sz="1600" dirty="0">
                <a:solidFill>
                  <a:srgbClr val="333F70"/>
                </a:solidFill>
                <a:highlight>
                  <a:srgbClr val="F2F2F2"/>
                </a:highlight>
                <a:latin typeface="Consolas" pitchFamily="34" charset="0"/>
                <a:ea typeface="Consolas" pitchFamily="34" charset="-122"/>
                <a:cs typeface="Consolas" pitchFamily="34" charset="-120"/>
              </a:rPr>
              <a:t>  "face_analysis": {</a:t>
            </a:r>
            <a:endParaRPr lang="en-US" sz="1600" dirty="0"/>
          </a:p>
          <a:p>
            <a:pPr marL="0" indent="0" algn="l">
              <a:lnSpc>
                <a:spcPts val="2050"/>
              </a:lnSpc>
              <a:buNone/>
            </a:pPr>
            <a:r>
              <a:rPr lang="en-US" sz="1600" dirty="0">
                <a:solidFill>
                  <a:srgbClr val="333F70"/>
                </a:solidFill>
                <a:highlight>
                  <a:srgbClr val="F2F2F2"/>
                </a:highlight>
                <a:latin typeface="Consolas" pitchFamily="34" charset="0"/>
                <a:ea typeface="Consolas" pitchFamily="34" charset="-122"/>
                <a:cs typeface="Consolas" pitchFamily="34" charset="-120"/>
              </a:rPr>
              <a:t>    "dominant_emotion": "Fear"</a:t>
            </a:r>
            <a:endParaRPr lang="en-US" sz="1600" dirty="0"/>
          </a:p>
          <a:p>
            <a:pPr marL="0" indent="0" algn="l">
              <a:lnSpc>
                <a:spcPts val="2050"/>
              </a:lnSpc>
              <a:buNone/>
            </a:pPr>
            <a:r>
              <a:rPr lang="en-US" sz="1600" dirty="0">
                <a:solidFill>
                  <a:srgbClr val="333F70"/>
                </a:solidFill>
                <a:highlight>
                  <a:srgbClr val="F2F2F2"/>
                </a:highlight>
                <a:latin typeface="Consolas" pitchFamily="34" charset="0"/>
                <a:ea typeface="Consolas" pitchFamily="34" charset="-122"/>
                <a:cs typeface="Consolas" pitchFamily="34" charset="-120"/>
              </a:rPr>
              <a:t>  },</a:t>
            </a:r>
            <a:endParaRPr lang="en-US" sz="1600" dirty="0"/>
          </a:p>
          <a:p>
            <a:pPr marL="0" indent="0" algn="l">
              <a:lnSpc>
                <a:spcPts val="2050"/>
              </a:lnSpc>
              <a:buNone/>
            </a:pPr>
            <a:r>
              <a:rPr lang="en-US" sz="1600" dirty="0">
                <a:solidFill>
                  <a:srgbClr val="333F70"/>
                </a:solidFill>
                <a:highlight>
                  <a:srgbClr val="F2F2F2"/>
                </a:highlight>
                <a:latin typeface="Consolas" pitchFamily="34" charset="0"/>
                <a:ea typeface="Consolas" pitchFamily="34" charset="-122"/>
                <a:cs typeface="Consolas" pitchFamily="34" charset="-120"/>
              </a:rPr>
              <a:t>  "recommendations": [</a:t>
            </a:r>
            <a:endParaRPr lang="en-US" sz="1600" dirty="0"/>
          </a:p>
          <a:p>
            <a:pPr marL="0" indent="0" algn="l">
              <a:lnSpc>
                <a:spcPts val="2050"/>
              </a:lnSpc>
              <a:buNone/>
            </a:pPr>
            <a:r>
              <a:rPr lang="en-US" sz="1600" dirty="0">
                <a:solidFill>
                  <a:srgbClr val="333F70"/>
                </a:solidFill>
                <a:highlight>
                  <a:srgbClr val="F2F2F2"/>
                </a:highlight>
                <a:latin typeface="Consolas" pitchFamily="34" charset="0"/>
                <a:ea typeface="Consolas" pitchFamily="34" charset="-122"/>
                <a:cs typeface="Consolas" pitchFamily="34" charset="-120"/>
              </a:rPr>
              <a:t>    {</a:t>
            </a:r>
            <a:endParaRPr lang="en-US" sz="1600" dirty="0"/>
          </a:p>
          <a:p>
            <a:pPr marL="0" indent="0" algn="l">
              <a:lnSpc>
                <a:spcPts val="2050"/>
              </a:lnSpc>
              <a:buNone/>
            </a:pPr>
            <a:r>
              <a:rPr lang="en-US" sz="1600" dirty="0">
                <a:solidFill>
                  <a:srgbClr val="333F70"/>
                </a:solidFill>
                <a:highlight>
                  <a:srgbClr val="F2F2F2"/>
                </a:highlight>
                <a:latin typeface="Consolas" pitchFamily="34" charset="0"/>
                <a:ea typeface="Consolas" pitchFamily="34" charset="-122"/>
                <a:cs typeface="Consolas" pitchFamily="34" charset="-120"/>
              </a:rPr>
              <a:t>      "area": "Eye Contact",</a:t>
            </a:r>
            <a:endParaRPr lang="en-US" sz="1600" dirty="0"/>
          </a:p>
          <a:p>
            <a:pPr marL="0" indent="0" algn="l">
              <a:lnSpc>
                <a:spcPts val="2050"/>
              </a:lnSpc>
              <a:buNone/>
            </a:pPr>
            <a:r>
              <a:rPr lang="en-US" sz="1600" dirty="0">
                <a:solidFill>
                  <a:srgbClr val="333F70"/>
                </a:solidFill>
                <a:highlight>
                  <a:srgbClr val="F2F2F2"/>
                </a:highlight>
                <a:latin typeface="Consolas" pitchFamily="34" charset="0"/>
                <a:ea typeface="Consolas" pitchFamily="34" charset="-122"/>
                <a:cs typeface="Consolas" pitchFamily="34" charset="-120"/>
              </a:rPr>
              <a:t>      "priority": "High"</a:t>
            </a:r>
            <a:endParaRPr lang="en-US" sz="1600" dirty="0"/>
          </a:p>
          <a:p>
            <a:pPr marL="0" indent="0" algn="l">
              <a:lnSpc>
                <a:spcPts val="2050"/>
              </a:lnSpc>
              <a:buNone/>
            </a:pPr>
            <a:r>
              <a:rPr lang="en-US" sz="1600" dirty="0">
                <a:solidFill>
                  <a:srgbClr val="333F70"/>
                </a:solidFill>
                <a:highlight>
                  <a:srgbClr val="F2F2F2"/>
                </a:highlight>
                <a:latin typeface="Consolas" pitchFamily="34" charset="0"/>
                <a:ea typeface="Consolas" pitchFamily="34" charset="-122"/>
                <a:cs typeface="Consolas" pitchFamily="34" charset="-120"/>
              </a:rPr>
              <a:t>    }</a:t>
            </a:r>
            <a:endParaRPr lang="en-US" sz="1600" dirty="0"/>
          </a:p>
          <a:p>
            <a:pPr marL="0" indent="0" algn="l">
              <a:lnSpc>
                <a:spcPts val="2050"/>
              </a:lnSpc>
              <a:buNone/>
            </a:pPr>
            <a:r>
              <a:rPr lang="en-US" sz="1600" dirty="0">
                <a:solidFill>
                  <a:srgbClr val="333F70"/>
                </a:solidFill>
                <a:highlight>
                  <a:srgbClr val="F2F2F2"/>
                </a:highlight>
                <a:latin typeface="Consolas" pitchFamily="34" charset="0"/>
                <a:ea typeface="Consolas" pitchFamily="34" charset="-122"/>
                <a:cs typeface="Consolas" pitchFamily="34" charset="-120"/>
              </a:rPr>
              <a:t>  ]</a:t>
            </a:r>
            <a:endParaRPr lang="en-US" sz="1600" dirty="0"/>
          </a:p>
          <a:p>
            <a:pPr marL="0" indent="0" algn="l">
              <a:lnSpc>
                <a:spcPts val="2050"/>
              </a:lnSpc>
              <a:buNone/>
            </a:pPr>
            <a:r>
              <a:rPr lang="en-US" sz="1600" dirty="0">
                <a:solidFill>
                  <a:srgbClr val="333F70"/>
                </a:solidFill>
                <a:highlight>
                  <a:srgbClr val="F2F2F2"/>
                </a:highlight>
                <a:latin typeface="Consolas" pitchFamily="34" charset="0"/>
                <a:ea typeface="Consolas" pitchFamily="34" charset="-122"/>
                <a:cs typeface="Consolas" pitchFamily="34" charset="-120"/>
              </a:rPr>
              <a:t>}</a:t>
            </a:r>
            <a:endParaRPr lang="en-US" sz="1600" dirty="0"/>
          </a:p>
        </p:txBody>
      </p:sp>
      <p:sp>
        <p:nvSpPr>
          <p:cNvPr id="16" name="Text 13"/>
          <p:cNvSpPr/>
          <p:nvPr/>
        </p:nvSpPr>
        <p:spPr>
          <a:xfrm>
            <a:off x="4778693" y="6279237"/>
            <a:ext cx="2040136" cy="255032"/>
          </a:xfrm>
          <a:prstGeom prst="rect">
            <a:avLst/>
          </a:prstGeom>
          <a:noFill/>
          <a:ln/>
        </p:spPr>
        <p:txBody>
          <a:bodyPr wrap="none" lIns="0" tIns="0" rIns="0" bIns="0" rtlCol="0" anchor="t"/>
          <a:lstStyle/>
          <a:p>
            <a:pPr marL="0" indent="0" algn="l">
              <a:lnSpc>
                <a:spcPts val="2000"/>
              </a:lnSpc>
              <a:buNone/>
            </a:pPr>
            <a:r>
              <a:rPr lang="en-US" sz="2000" b="1" dirty="0">
                <a:solidFill>
                  <a:srgbClr val="333F70"/>
                </a:solidFill>
                <a:latin typeface="Unbounded Bold" pitchFamily="34" charset="0"/>
                <a:ea typeface="Unbounded Bold" pitchFamily="34" charset="-122"/>
                <a:cs typeface="Unbounded Bold" pitchFamily="34" charset="-120"/>
              </a:rPr>
              <a:t>Limitations</a:t>
            </a:r>
            <a:endParaRPr lang="en-US" sz="2000" dirty="0"/>
          </a:p>
        </p:txBody>
      </p:sp>
      <p:sp>
        <p:nvSpPr>
          <p:cNvPr id="17" name="Text 14"/>
          <p:cNvSpPr/>
          <p:nvPr/>
        </p:nvSpPr>
        <p:spPr>
          <a:xfrm>
            <a:off x="4778693" y="6697385"/>
            <a:ext cx="3801785" cy="261104"/>
          </a:xfrm>
          <a:prstGeom prst="rect">
            <a:avLst/>
          </a:prstGeom>
          <a:noFill/>
          <a:ln/>
        </p:spPr>
        <p:txBody>
          <a:bodyPr wrap="none" lIns="0" tIns="0" rIns="0" bIns="0" rtlCol="0" anchor="t"/>
          <a:lstStyle/>
          <a:p>
            <a:pPr marL="342900" indent="-342900" algn="l">
              <a:lnSpc>
                <a:spcPts val="2050"/>
              </a:lnSpc>
              <a:buSzPct val="100000"/>
              <a:buChar char="•"/>
            </a:pPr>
            <a:r>
              <a:rPr lang="en-US" sz="1600" dirty="0">
                <a:solidFill>
                  <a:srgbClr val="333F70"/>
                </a:solidFill>
                <a:latin typeface="Open Sans" pitchFamily="34" charset="0"/>
                <a:ea typeface="Open Sans" pitchFamily="34" charset="-122"/>
                <a:cs typeface="Open Sans" pitchFamily="34" charset="-120"/>
              </a:rPr>
              <a:t>Lighting sensitivity, background noise.</a:t>
            </a:r>
            <a:endParaRPr lang="en-US" sz="1600" dirty="0"/>
          </a:p>
        </p:txBody>
      </p:sp>
      <p:sp>
        <p:nvSpPr>
          <p:cNvPr id="18" name="Text 15"/>
          <p:cNvSpPr/>
          <p:nvPr/>
        </p:nvSpPr>
        <p:spPr>
          <a:xfrm>
            <a:off x="4778693" y="7015520"/>
            <a:ext cx="3801785" cy="261104"/>
          </a:xfrm>
          <a:prstGeom prst="rect">
            <a:avLst/>
          </a:prstGeom>
          <a:noFill/>
          <a:ln/>
        </p:spPr>
        <p:txBody>
          <a:bodyPr wrap="none" lIns="0" tIns="0" rIns="0" bIns="0" rtlCol="0" anchor="t"/>
          <a:lstStyle/>
          <a:p>
            <a:pPr marL="342900" indent="-342900" algn="l">
              <a:lnSpc>
                <a:spcPts val="2050"/>
              </a:lnSpc>
              <a:buSzPct val="100000"/>
              <a:buChar char="•"/>
            </a:pPr>
            <a:r>
              <a:rPr lang="en-US" sz="1600" dirty="0">
                <a:solidFill>
                  <a:srgbClr val="333F70"/>
                </a:solidFill>
                <a:latin typeface="Open Sans" pitchFamily="34" charset="0"/>
                <a:ea typeface="Open Sans" pitchFamily="34" charset="-122"/>
                <a:cs typeface="Open Sans" pitchFamily="34" charset="-120"/>
              </a:rPr>
              <a:t>Single face, English-dependent speech model.</a:t>
            </a:r>
            <a:endParaRPr lang="en-US" sz="1600" dirty="0"/>
          </a:p>
        </p:txBody>
      </p:sp>
      <p:sp>
        <p:nvSpPr>
          <p:cNvPr id="19" name="Text 16"/>
          <p:cNvSpPr/>
          <p:nvPr/>
        </p:nvSpPr>
        <p:spPr>
          <a:xfrm>
            <a:off x="4778693" y="7333655"/>
            <a:ext cx="3801785" cy="261104"/>
          </a:xfrm>
          <a:prstGeom prst="rect">
            <a:avLst/>
          </a:prstGeom>
          <a:noFill/>
          <a:ln/>
        </p:spPr>
        <p:txBody>
          <a:bodyPr wrap="none" lIns="0" tIns="0" rIns="0" bIns="0" rtlCol="0" anchor="t"/>
          <a:lstStyle/>
          <a:p>
            <a:pPr marL="342900" indent="-342900" algn="l">
              <a:lnSpc>
                <a:spcPts val="2050"/>
              </a:lnSpc>
              <a:buSzPct val="100000"/>
              <a:buChar char="•"/>
            </a:pPr>
            <a:r>
              <a:rPr lang="en-US" sz="1600" dirty="0">
                <a:solidFill>
                  <a:srgbClr val="333F70"/>
                </a:solidFill>
                <a:latin typeface="Open Sans" pitchFamily="34" charset="0"/>
                <a:ea typeface="Open Sans" pitchFamily="34" charset="-122"/>
                <a:cs typeface="Open Sans" pitchFamily="34" charset="-120"/>
              </a:rPr>
              <a:t>Hardware requirements.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983950"/>
            <a:ext cx="9183886" cy="708779"/>
          </a:xfrm>
          <a:prstGeom prst="rect">
            <a:avLst/>
          </a:prstGeom>
          <a:noFill/>
          <a:ln/>
        </p:spPr>
        <p:txBody>
          <a:bodyPr wrap="none" lIns="0" tIns="0" rIns="0" bIns="0" rtlCol="0" anchor="t"/>
          <a:lstStyle/>
          <a:p>
            <a:pPr marL="0" indent="0" algn="l">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Conclusion &amp; Future Work</a:t>
            </a:r>
            <a:endParaRPr lang="en-US" sz="4450" dirty="0"/>
          </a:p>
        </p:txBody>
      </p:sp>
      <p:sp>
        <p:nvSpPr>
          <p:cNvPr id="4" name="Shape 1"/>
          <p:cNvSpPr/>
          <p:nvPr/>
        </p:nvSpPr>
        <p:spPr>
          <a:xfrm>
            <a:off x="793790" y="5032891"/>
            <a:ext cx="13042821" cy="2047994"/>
          </a:xfrm>
          <a:prstGeom prst="roundRect">
            <a:avLst>
              <a:gd name="adj" fmla="val 4652"/>
            </a:avLst>
          </a:prstGeom>
          <a:solidFill>
            <a:srgbClr val="D6F5EE"/>
          </a:solidFill>
          <a:ln w="7620">
            <a:solidFill>
              <a:srgbClr val="BCDBD4"/>
            </a:solidFill>
            <a:prstDash val="solid"/>
          </a:ln>
        </p:spPr>
      </p:sp>
      <p:sp>
        <p:nvSpPr>
          <p:cNvPr id="5" name="Shape 2"/>
          <p:cNvSpPr/>
          <p:nvPr/>
        </p:nvSpPr>
        <p:spPr>
          <a:xfrm>
            <a:off x="801410" y="5040511"/>
            <a:ext cx="6513790" cy="2032754"/>
          </a:xfrm>
          <a:prstGeom prst="roundRect">
            <a:avLst>
              <a:gd name="adj" fmla="val 4687"/>
            </a:avLst>
          </a:prstGeom>
          <a:solidFill>
            <a:srgbClr val="D6F5EE"/>
          </a:solidFill>
          <a:ln/>
        </p:spPr>
      </p:sp>
      <p:sp>
        <p:nvSpPr>
          <p:cNvPr id="6" name="Text 3"/>
          <p:cNvSpPr/>
          <p:nvPr/>
        </p:nvSpPr>
        <p:spPr>
          <a:xfrm>
            <a:off x="1028224" y="526732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Conclusion</a:t>
            </a:r>
            <a:endParaRPr lang="en-US" sz="2200" dirty="0"/>
          </a:p>
        </p:txBody>
      </p:sp>
      <p:sp>
        <p:nvSpPr>
          <p:cNvPr id="7" name="Text 4"/>
          <p:cNvSpPr/>
          <p:nvPr/>
        </p:nvSpPr>
        <p:spPr>
          <a:xfrm>
            <a:off x="1028224" y="5757743"/>
            <a:ext cx="5720001" cy="1088708"/>
          </a:xfrm>
          <a:prstGeom prst="rect">
            <a:avLst/>
          </a:prstGeom>
          <a:noFill/>
          <a:ln/>
        </p:spPr>
        <p:txBody>
          <a:bodyPr wrap="squar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AI Interview Analyzer provides objective, quantitative feedback using multimodal emotion recognition, enhancing interview skills.</a:t>
            </a:r>
            <a:endParaRPr lang="en-US" sz="1750" dirty="0"/>
          </a:p>
        </p:txBody>
      </p:sp>
      <p:sp>
        <p:nvSpPr>
          <p:cNvPr id="8" name="Shape 5"/>
          <p:cNvSpPr/>
          <p:nvPr/>
        </p:nvSpPr>
        <p:spPr>
          <a:xfrm>
            <a:off x="7315200" y="5040511"/>
            <a:ext cx="6513790" cy="2032754"/>
          </a:xfrm>
          <a:prstGeom prst="rect">
            <a:avLst/>
          </a:prstGeom>
          <a:solidFill>
            <a:srgbClr val="D6F5EE"/>
          </a:solidFill>
          <a:ln/>
        </p:spPr>
      </p:sp>
      <p:sp>
        <p:nvSpPr>
          <p:cNvPr id="9" name="Shape 6"/>
          <p:cNvSpPr/>
          <p:nvPr/>
        </p:nvSpPr>
        <p:spPr>
          <a:xfrm>
            <a:off x="7315200" y="5040511"/>
            <a:ext cx="30480" cy="2032754"/>
          </a:xfrm>
          <a:prstGeom prst="roundRect">
            <a:avLst>
              <a:gd name="adj" fmla="val 312558"/>
            </a:avLst>
          </a:prstGeom>
          <a:solidFill>
            <a:srgbClr val="BCDBD4"/>
          </a:solidFill>
          <a:ln/>
        </p:spPr>
      </p:sp>
      <p:sp>
        <p:nvSpPr>
          <p:cNvPr id="10" name="Text 7"/>
          <p:cNvSpPr/>
          <p:nvPr/>
        </p:nvSpPr>
        <p:spPr>
          <a:xfrm>
            <a:off x="7882176" y="5267325"/>
            <a:ext cx="3958114" cy="354330"/>
          </a:xfrm>
          <a:prstGeom prst="rect">
            <a:avLst/>
          </a:prstGeom>
          <a:noFill/>
          <a:ln/>
        </p:spPr>
        <p:txBody>
          <a:bodyPr wrap="none" lIns="0" tIns="0" rIns="0" bIns="0" rtlCol="0" anchor="t"/>
          <a:lstStyle/>
          <a:p>
            <a:pPr marL="0" indent="0" algn="l">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Future Enhancements</a:t>
            </a:r>
            <a:endParaRPr lang="en-US" sz="2200" dirty="0"/>
          </a:p>
        </p:txBody>
      </p:sp>
      <p:sp>
        <p:nvSpPr>
          <p:cNvPr id="11" name="Text 8"/>
          <p:cNvSpPr/>
          <p:nvPr/>
        </p:nvSpPr>
        <p:spPr>
          <a:xfrm>
            <a:off x="7882176" y="5757743"/>
            <a:ext cx="5720001" cy="1088708"/>
          </a:xfrm>
          <a:prstGeom prst="rect">
            <a:avLst/>
          </a:prstGeom>
          <a:noFill/>
          <a:ln/>
        </p:spPr>
        <p:txBody>
          <a:bodyPr wrap="squar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Body language analysis, NLP, multi-language support, mobile app, cloud deployment, historical tracking, and real-time coaching.</a:t>
            </a:r>
            <a:endParaRPr lang="en-US" sz="1750" dirty="0"/>
          </a:p>
        </p:txBody>
      </p:sp>
      <p:sp>
        <p:nvSpPr>
          <p:cNvPr id="12" name="Shape 9"/>
          <p:cNvSpPr/>
          <p:nvPr/>
        </p:nvSpPr>
        <p:spPr>
          <a:xfrm>
            <a:off x="7031712" y="5773341"/>
            <a:ext cx="566976" cy="566976"/>
          </a:xfrm>
          <a:prstGeom prst="roundRect">
            <a:avLst>
              <a:gd name="adj" fmla="val 16803"/>
            </a:avLst>
          </a:prstGeom>
          <a:solidFill>
            <a:srgbClr val="FFFFFF"/>
          </a:solidFill>
          <a:ln w="30480">
            <a:solidFill>
              <a:srgbClr val="BCDBD4"/>
            </a:solidFill>
            <a:prstDash val="solid"/>
          </a:ln>
        </p:spPr>
      </p:sp>
      <p:pic>
        <p:nvPicPr>
          <p:cNvPr id="13"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73397" y="5915025"/>
            <a:ext cx="283488" cy="283488"/>
          </a:xfrm>
          <a:prstGeom prst="rect">
            <a:avLst/>
          </a:prstGeom>
        </p:spPr>
      </p:pic>
      <p:pic>
        <p:nvPicPr>
          <p:cNvPr id="15" name="Picture 14">
            <a:extLst>
              <a:ext uri="{FF2B5EF4-FFF2-40B4-BE49-F238E27FC236}">
                <a16:creationId xmlns:a16="http://schemas.microsoft.com/office/drawing/2014/main" id="{7B5A3209-136C-ADFF-A9A2-F7C532EA9AB3}"/>
              </a:ext>
            </a:extLst>
          </p:cNvPr>
          <p:cNvPicPr>
            <a:picLocks noChangeAspect="1"/>
          </p:cNvPicPr>
          <p:nvPr/>
        </p:nvPicPr>
        <p:blipFill>
          <a:blip r:embed="rId6"/>
          <a:stretch>
            <a:fillRect/>
          </a:stretch>
        </p:blipFill>
        <p:spPr>
          <a:xfrm>
            <a:off x="11687175" y="7610475"/>
            <a:ext cx="2943225" cy="6191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1345</Words>
  <Application>Microsoft Office PowerPoint</Application>
  <PresentationFormat>Custom</PresentationFormat>
  <Paragraphs>219</Paragraphs>
  <Slides>19</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Open Sans</vt:lpstr>
      <vt:lpstr>Arial</vt:lpstr>
      <vt:lpstr>Instrument Sans Medium</vt:lpstr>
      <vt:lpstr>Unbounded Bold</vt:lpstr>
      <vt:lpstr>Instrument Sans Semi Bold</vt:lpstr>
      <vt:lpstr>Unbounded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Muhammad Ali</dc:creator>
  <cp:lastModifiedBy>Muhammad Ali</cp:lastModifiedBy>
  <cp:revision>2</cp:revision>
  <dcterms:created xsi:type="dcterms:W3CDTF">2025-12-26T07:10:40Z</dcterms:created>
  <dcterms:modified xsi:type="dcterms:W3CDTF">2025-12-26T17:12:49Z</dcterms:modified>
</cp:coreProperties>
</file>